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Today I am presenting our capstone research project: 'From Pumps to Plugs: Did the Green Revolution Drive Household Electricity Demand?' In this talk, I will walk you through the entire research process: the core economic question, the data landscape, the significant archival data roadblocks we encountered, the digital engineering steps we took to solve them, and the empirical econometric findings.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2, we set up the core puzzle. Most literature looks at electricity as an exogenous shock that drives development. We argue the reverse: productive agricultural demand pulled the electrical grid into rural India. Previous researchers were hindered because digitized census data started in 1991. We solved this by digitizing the 1981 Census.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outlines the exact 5-phase research process we followed to answer our question. We didn't start with a clean, pre-packaged dataset. We faced a significant historical data barrier, explored microdata, audited its limitations, hunted down archival Census volumes, engineered custom OCR and validation scripts, harmonized district splits over 50 years, and finally executed our econometric modeling.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4, we detail our first major research hurdle. We thoroughly parsed the ARIS-REDS 1982 files. The user shared an initial audit showing 250 villages in 98 districts. While rich, each district only had 2 to 4 villages. Aggregating 40 households cannot reliably represent a district of 2 million people. So we made an essential methodological pivot: we repurposed REDS to extract exact village electrification calendar years, while searching for an official Census source for district household rates.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5, we show how we hunted down the missing data. Existing digital repositories like IPUMS and SHRUG only go back to 1991. We searched the Registrar General's NADA archive and located the scanned 1981 Household Tables, specifically Table HH-6 Part B. We downloaded the raw scanned volumes for Punjab, Haryana, and Uttar Pradesh—totaling over 54 MB of archival scans.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6, we address data integrity and quality control. How do we know the OCR didn't hallucinate numbers? We built an automated mathematical verification rule: for every single district, the sum of Electrified households and Non-electrified households had to equal Total Rural Households to the single digit. Every single district in Punjab, Haryana, and Western UP passed with zero discrepancy.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7, we explain spatial harmonization. Over the 50-year study window, dozens of districts split. For example, Faridabad was carved out of Gurgaon, and Sirsa was carved out of Hissar. If you compare raw district names between 1981 and 1991, you get severe errors. We built a backward-harmonization algorithm that maps every child district back into its 1966 parent boundary, resulting in 33 perfectly balanced geographic units.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assembled data infrastructure. We synthesized four distinct pillars into a unified empirical pipeline: the ICRISAT agricultural panel, the ARIS-REDS village schedules, our newly digitized 1981 Census tables, and the 1991 Census/SHRUG data, all bound together with our 1966 spatial crosswalk.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9, we lay out our econometric identification roadmap. We don't rely on a single regression. We establish causality in four sequential steps: first, village-level survival timing; second, two-way fixed effects on agricultural tubewells; third, 1981 cross-sectional variation; and fourth, a rigorous first-difference panel from 1981 to 1991 that wipes out time-invariant unobservables.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presents our first econometric result: the First-Stage Event Study. Using 12,020 district-years, we find that every 1,000 hectares of HYV wheat drove 146.8 hectares of tubewell-irrigated land (p = 0.0016). Notice that HYV Rice has a coefficient of -0.0109 and is completely insignificant (p = 0.63). This explains why the groundwater tubewell boom occurred in the northern wheat belt rather than eastern rice regions.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figure shows tubewells diverging immediately after 1966: early wheat adopters grew over 550% in a single decade. The right figure shows the cumulative hazard of village electrification: note the kink right at 1969, reflecting the establishment of REC.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disproves a major piece of conventional wisdom in Indian economic history. It was widely believed that pre-1991 rural electrification was negligible. Our extraction of Table HH-6 proves that in Punjab, over half of all rural homes were already electrified in 1981, and in Haryana over 41% were electrified. The identifying spatial variation was massive.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Looking across space in 1981, we observe a dramatic spatial gradient. In the Green Revolution epicenter—Ludhiana—almost 65% of rural homes had power. As we move across Haryana, it drops to the 40-55% range. In Western UP, the leading districts like Moradabad and Meerut were around 10%, while on the eastern edge of Rohilkhand, Shahjahanpur was at only 1.4%.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in Slide 14, we examine the cross-section within Punjab and Haryana. The correlation between 1981 rural household electrification and tubewell intensity is +0.38, and with wheat share it is +0.42. Punjab districts had about a 10 percentage point baseline advantage.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we come to the core empirical test: the First-Difference design. Differencing between 1981 and 1991 wipes out time-invariant district unobservables. As shown on the right, Punjab gained 26.7 percentage points, Haryana gained 22.2 points, and Western UP gained 7.0 points.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crowning econometric result. In the first-difference regression, early HYV wheat adoption explains 84.8% of the decadal growth in rural household electricity connections. The z-statistic is 9.27 (p &lt; 10^-9). Every 10 percentage points of wheat adoption in the 1960s/70s drove an extra 5 percentage points of domestic electrification in the 1980s.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synthesize our findings, we make four main contributions: 1. We reverse the infrastructure paradigm. 2. We disprove the myth that pre-1991 variation was negligible. 3. We identify the wheat-specific tubewell channel. 4. We demonstrate a persistent multiplier that accelerates over time.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our roadmap. Phase 1 is now fully completed. In Phase 2, we will look at Southern India (Tamil Nadu and Andhra) to contrast groundwater tubewells with surface tank irrigation. In Phase 3, we will formalize an IV strategy using soil depth and complete the capstone paper. Thank you, and I look forward to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1645920"/>
            <a:ext cx="10058400" cy="2286000"/>
          </a:xfrm>
          <a:prstGeom prst="rect">
            <a:avLst/>
          </a:prstGeom>
          <a:noFill/>
        </p:spPr>
        <p:txBody>
          <a:bodyPr wrap="square">
            <a:spAutoFit/>
          </a:bodyPr>
          <a:lstStyle/>
          <a:p>
            <a:pPr>
              <a:spcAft>
                <a:spcPts val="1400"/>
              </a:spcAft>
              <a:defRPr sz="1200" b="1">
                <a:solidFill>
                  <a:srgbClr val="60A5FA"/>
                </a:solidFill>
              </a:defRPr>
            </a:pPr>
            <a:r>
              <a:t>DATA SCIENCE INSTITUTE (DSI) SCHOLAR RESEARCH PROGRAM</a:t>
            </a:r>
          </a:p>
          <a:p>
            <a:pPr>
              <a:spcAft>
                <a:spcPts val="1400"/>
              </a:spcAft>
              <a:defRPr sz="3100" b="1">
                <a:solidFill>
                  <a:srgbClr val="FFFFFF"/>
                </a:solidFill>
              </a:defRPr>
            </a:pPr>
            <a:r>
              <a:t>From Pumps to Plugs: Did the Green Revolution Drive Household Electricity Demand?</a:t>
            </a:r>
          </a:p>
          <a:p>
            <a:pPr>
              <a:defRPr sz="1600">
                <a:solidFill>
                  <a:srgbClr val="CBD5E1"/>
                </a:solidFill>
              </a:defRPr>
            </a:pPr>
            <a:r>
              <a:t>Data Engineering, Archival Digitization, and Econometric Identification in Rural India (1966–1991)</a:t>
            </a:r>
          </a:p>
        </p:txBody>
      </p:sp>
      <p:sp>
        <p:nvSpPr>
          <p:cNvPr id="4" name="Rounded Rectangle 3"/>
          <p:cNvSpPr/>
          <p:nvPr/>
        </p:nvSpPr>
        <p:spPr>
          <a:xfrm>
            <a:off x="1097280" y="4389120"/>
            <a:ext cx="9966960" cy="1371600"/>
          </a:xfrm>
          <a:prstGeom prst="roundRect">
            <a:avLst/>
          </a:prstGeom>
          <a:solidFill>
            <a:srgbClr val="1A2F55"/>
          </a:solidFill>
          <a:ln w="12700">
            <a:solidFill>
              <a:srgbClr val="2D44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4572000"/>
            <a:ext cx="9418320" cy="1005840"/>
          </a:xfrm>
          <a:prstGeom prst="rect">
            <a:avLst/>
          </a:prstGeom>
          <a:noFill/>
        </p:spPr>
        <p:txBody>
          <a:bodyPr wrap="square">
            <a:spAutoFit/>
          </a:bodyPr>
          <a:lstStyle/>
          <a:p>
            <a:pPr>
              <a:defRPr b="1" sz="1400">
                <a:solidFill>
                  <a:srgbClr val="FFFFFF"/>
                </a:solidFill>
              </a:defRPr>
            </a:pPr>
            <a:r>
              <a:t>Empirical Research Dossier: The Data, The Process, and The Insights</a:t>
            </a:r>
          </a:p>
          <a:p>
            <a:pPr>
              <a:spcBef>
                <a:spcPts val="400"/>
              </a:spcBef>
              <a:defRPr sz="1100">
                <a:solidFill>
                  <a:srgbClr val="94A3B8"/>
                </a:solidFill>
              </a:defRPr>
            </a:pPr>
            <a:r>
              <a:t>Methodological Journey: ARIS-REDS Audit • Archival Census 1981 OCR • 1966 Boundary Harmonization • First-Difference Econometrics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1F77B4"/>
                </a:solidFill>
              </a:defRPr>
            </a:pPr>
            <a:r>
              <a:t>1. RESEARCH MOTIVATION</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0F2042"/>
                </a:solidFill>
              </a:defRPr>
            </a:pPr>
            <a:r>
              <a:t>The Core Research Question: Reversing the Energy Paradigm</a:t>
            </a:r>
          </a:p>
        </p:txBody>
      </p:sp>
      <p:sp>
        <p:nvSpPr>
          <p:cNvPr id="4" name="Rounded Rectangle 3"/>
          <p:cNvSpPr/>
          <p:nvPr/>
        </p:nvSpPr>
        <p:spPr>
          <a:xfrm>
            <a:off x="731520" y="1463040"/>
            <a:ext cx="51206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square">
            <a:spAutoFit/>
          </a:bodyPr>
          <a:lstStyle/>
          <a:p>
            <a:pPr>
              <a:defRPr sz="1500" b="1">
                <a:solidFill>
                  <a:srgbClr val="0F2042"/>
                </a:solidFill>
              </a:defRPr>
            </a:pPr>
            <a:r>
              <a:t>The Traditional View in Development Economics</a:t>
            </a:r>
          </a:p>
          <a:p>
            <a:pPr>
              <a:spcBef>
                <a:spcPts val="800"/>
              </a:spcBef>
              <a:defRPr sz="1200">
                <a:solidFill>
                  <a:srgbClr val="2D3748"/>
                </a:solidFill>
              </a:defRPr>
            </a:pPr>
            <a:r>
              <a:t>• Treats electrification primarily as a top-down public welfare good provided by the state.</a:t>
            </a:r>
          </a:p>
          <a:p>
            <a:pPr>
              <a:spcBef>
                <a:spcPts val="800"/>
              </a:spcBef>
              <a:defRPr sz="1200">
                <a:solidFill>
                  <a:srgbClr val="2D3748"/>
                </a:solidFill>
              </a:defRPr>
            </a:pPr>
            <a:r>
              <a:t>• Assumes household lighting directly triggers economic growth, study time, and female labor supply.</a:t>
            </a:r>
          </a:p>
          <a:p>
            <a:pPr>
              <a:spcBef>
                <a:spcPts val="800"/>
              </a:spcBef>
              <a:defRPr sz="1200">
                <a:solidFill>
                  <a:srgbClr val="2D3748"/>
                </a:solidFill>
              </a:defRPr>
            </a:pPr>
            <a:r>
              <a:t>• Overlooks the microeconomic origins of network demand: What makes extending wires financially viable in remote villages in the first place?</a:t>
            </a:r>
          </a:p>
          <a:p>
            <a:pPr>
              <a:spcBef>
                <a:spcPts val="1600"/>
              </a:spcBef>
              <a:defRPr sz="1500" b="1">
                <a:solidFill>
                  <a:srgbClr val="1F77B4"/>
                </a:solidFill>
              </a:defRPr>
            </a:pPr>
            <a:r>
              <a:t>The 'Productivity-First' Hypothesis (Our Framework)</a:t>
            </a:r>
          </a:p>
          <a:p>
            <a:pPr>
              <a:spcBef>
                <a:spcPts val="600"/>
              </a:spcBef>
              <a:defRPr sz="1200">
                <a:solidFill>
                  <a:srgbClr val="2D3748"/>
                </a:solidFill>
              </a:defRPr>
            </a:pPr>
            <a:r>
              <a:t>• Agricultural productivity shock (HYV seeds) creates immense private return to irrigation.</a:t>
            </a:r>
          </a:p>
          <a:p>
            <a:pPr>
              <a:spcBef>
                <a:spcPts val="600"/>
              </a:spcBef>
              <a:defRPr sz="1200">
                <a:solidFill>
                  <a:srgbClr val="2D3748"/>
                </a:solidFill>
              </a:defRPr>
            </a:pPr>
            <a:r>
              <a:t>• Farmers install energised tubewells, demanding high-voltage 11 kV grid extension.</a:t>
            </a:r>
          </a:p>
          <a:p>
            <a:pPr>
              <a:spcBef>
                <a:spcPts val="600"/>
              </a:spcBef>
              <a:defRPr sz="1200">
                <a:solidFill>
                  <a:srgbClr val="2D3748"/>
                </a:solidFill>
              </a:defRPr>
            </a:pPr>
            <a:r>
              <a:t>• Once transformers are in the village, low-tension wire extension to homes becomes cheap.</a:t>
            </a:r>
          </a:p>
          <a:p>
            <a:pPr>
              <a:spcBef>
                <a:spcPts val="600"/>
              </a:spcBef>
              <a:defRPr sz="1200">
                <a:solidFill>
                  <a:srgbClr val="2D3748"/>
                </a:solidFill>
              </a:defRPr>
            </a:pPr>
            <a:r>
              <a:t>• Simultaneously, agricultural income gains allow households to afford connections and durables.</a:t>
            </a:r>
          </a:p>
        </p:txBody>
      </p:sp>
      <p:sp>
        <p:nvSpPr>
          <p:cNvPr id="6" name="Rounded Rectangle 5"/>
          <p:cNvSpPr/>
          <p:nvPr/>
        </p:nvSpPr>
        <p:spPr>
          <a:xfrm>
            <a:off x="6217920" y="146304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square">
            <a:spAutoFit/>
          </a:bodyPr>
          <a:lstStyle/>
          <a:p>
            <a:pPr>
              <a:defRPr sz="1500" b="1">
                <a:solidFill>
                  <a:srgbClr val="D9534F"/>
                </a:solidFill>
              </a:defRPr>
            </a:pPr>
            <a:r>
              <a:t>The Historical Data Gap &amp; Previous Skepticism</a:t>
            </a:r>
          </a:p>
          <a:p>
            <a:pPr>
              <a:spcBef>
                <a:spcPts val="1000"/>
              </a:spcBef>
              <a:defRPr sz="1200">
                <a:solidFill>
                  <a:srgbClr val="2D3748"/>
                </a:solidFill>
              </a:defRPr>
            </a:pPr>
            <a:r>
              <a:t>• The Data Gap: Earliest widely digitized Census tables for household electricity began in 1991. The Green Revolution began in 1966. How do we measure domestic demand before 1991?</a:t>
            </a:r>
          </a:p>
          <a:p>
            <a:pPr>
              <a:spcBef>
                <a:spcPts val="1000"/>
              </a:spcBef>
              <a:defRPr sz="1200">
                <a:solidFill>
                  <a:srgbClr val="2D3748"/>
                </a:solidFill>
              </a:defRPr>
            </a:pPr>
            <a:r>
              <a:t>• The Identification Concern: Economists frequently argued that pre-1990 rural electrification was too minimal or uniformly near-zero to provide identifying econometric variation.</a:t>
            </a:r>
          </a:p>
          <a:p>
            <a:pPr>
              <a:spcBef>
                <a:spcPts val="1000"/>
              </a:spcBef>
              <a:defRPr sz="1200">
                <a:solidFill>
                  <a:srgbClr val="2D3748"/>
                </a:solidFill>
              </a:defRPr>
            </a:pPr>
            <a:r>
              <a:t>• Our Resolution: We conducted an archival retrieval and digital OCR extraction of Census of India 1981 Table HH-6 Part B across Punjab, Haryana, and Uttar Pradesh.</a:t>
            </a:r>
          </a:p>
          <a:p>
            <a:pPr>
              <a:spcBef>
                <a:spcPts val="1000"/>
              </a:spcBef>
              <a:defRPr sz="1200">
                <a:solidFill>
                  <a:srgbClr val="2D3748"/>
                </a:solidFill>
              </a:defRPr>
            </a:pPr>
            <a:r>
              <a:t>• The Discovery: In 1981, rural household electrification in Punjab was already 50.3% (with Ludhiana at 64.8%), Haryana was at 41.0%, while UP was at 4.0%. Identifying spatial variation was massive!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1F77B4"/>
                </a:solidFill>
              </a:defRPr>
            </a:pPr>
            <a:r>
              <a:t>2. RESEARCH PROCESS</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0F2042"/>
                </a:solidFill>
              </a:defRPr>
            </a:pPr>
            <a:r>
              <a:t>The Research Journey: Methodological Roadmap Followed</a:t>
            </a:r>
          </a:p>
        </p:txBody>
      </p:sp>
      <p:sp>
        <p:nvSpPr>
          <p:cNvPr id="4" name="Rounded Rectangle 3"/>
          <p:cNvSpPr/>
          <p:nvPr/>
        </p:nvSpPr>
        <p:spPr>
          <a:xfrm>
            <a:off x="731520" y="1463040"/>
            <a:ext cx="10698480"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63040"/>
            <a:ext cx="137160" cy="868680"/>
          </a:xfrm>
          <a:prstGeom prst="rect">
            <a:avLst/>
          </a:prstGeom>
          <a:solidFill>
            <a:srgbClr val="0F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08760"/>
            <a:ext cx="10241280" cy="777240"/>
          </a:xfrm>
          <a:prstGeom prst="rect">
            <a:avLst/>
          </a:prstGeom>
          <a:noFill/>
        </p:spPr>
        <p:txBody>
          <a:bodyPr wrap="square">
            <a:spAutoFit/>
          </a:bodyPr>
          <a:lstStyle/>
          <a:p>
            <a:pPr>
              <a:defRPr sz="1300" b="1">
                <a:solidFill>
                  <a:srgbClr val="0F2042"/>
                </a:solidFill>
              </a:defRPr>
            </a:pPr>
            <a:r>
              <a:t>Phase 1: Hypothesis &amp; Roadblock Identification</a:t>
            </a:r>
          </a:p>
          <a:p>
            <a:pPr>
              <a:spcBef>
                <a:spcPts val="200"/>
              </a:spcBef>
              <a:defRPr sz="1050">
                <a:solidFill>
                  <a:srgbClr val="2D3748"/>
                </a:solidFill>
              </a:defRPr>
            </a:pPr>
            <a:r>
              <a:t>Formulated the 'Pumps-to-Plugs' hypothesis. Hit the fundamental data constraint: no digitized Census household electricity data existed prior to 1991.</a:t>
            </a:r>
          </a:p>
        </p:txBody>
      </p:sp>
      <p:sp>
        <p:nvSpPr>
          <p:cNvPr id="7" name="Rounded Rectangle 6"/>
          <p:cNvSpPr/>
          <p:nvPr/>
        </p:nvSpPr>
        <p:spPr>
          <a:xfrm>
            <a:off x="731520" y="2423160"/>
            <a:ext cx="10698480"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423160"/>
            <a:ext cx="137160" cy="86868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468880"/>
            <a:ext cx="10241280" cy="777240"/>
          </a:xfrm>
          <a:prstGeom prst="rect">
            <a:avLst/>
          </a:prstGeom>
          <a:noFill/>
        </p:spPr>
        <p:txBody>
          <a:bodyPr wrap="square">
            <a:spAutoFit/>
          </a:bodyPr>
          <a:lstStyle/>
          <a:p>
            <a:pPr>
              <a:defRPr sz="1300" b="1">
                <a:solidFill>
                  <a:srgbClr val="1F77B4"/>
                </a:solidFill>
              </a:defRPr>
            </a:pPr>
            <a:r>
              <a:t>Phase 2: Microdata Audit &amp; Exploration (ARIS-REDS)</a:t>
            </a:r>
          </a:p>
          <a:p>
            <a:pPr>
              <a:spcBef>
                <a:spcPts val="200"/>
              </a:spcBef>
              <a:defRPr sz="1050">
                <a:solidFill>
                  <a:srgbClr val="2D3748"/>
                </a:solidFill>
              </a:defRPr>
            </a:pPr>
            <a:r>
              <a:t>Evaluated ARIS-REDS 1982 survey microdata (250 villages, 98 districts). Found thin within-district coverage; extracted village electrification timing for hazard analysis.</a:t>
            </a:r>
          </a:p>
        </p:txBody>
      </p:sp>
      <p:sp>
        <p:nvSpPr>
          <p:cNvPr id="10" name="Rounded Rectangle 9"/>
          <p:cNvSpPr/>
          <p:nvPr/>
        </p:nvSpPr>
        <p:spPr>
          <a:xfrm>
            <a:off x="731520" y="3383280"/>
            <a:ext cx="10698480"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383280"/>
            <a:ext cx="137160" cy="86868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429000"/>
            <a:ext cx="10241280" cy="777240"/>
          </a:xfrm>
          <a:prstGeom prst="rect">
            <a:avLst/>
          </a:prstGeom>
          <a:noFill/>
        </p:spPr>
        <p:txBody>
          <a:bodyPr wrap="square">
            <a:spAutoFit/>
          </a:bodyPr>
          <a:lstStyle/>
          <a:p>
            <a:pPr>
              <a:defRPr sz="1300" b="1">
                <a:solidFill>
                  <a:srgbClr val="7030A0"/>
                </a:solidFill>
              </a:defRPr>
            </a:pPr>
            <a:r>
              <a:t>Phase 3: Archival Search &amp; Physical Table Discovery</a:t>
            </a:r>
          </a:p>
          <a:p>
            <a:pPr>
              <a:spcBef>
                <a:spcPts val="200"/>
              </a:spcBef>
              <a:defRPr sz="1050">
                <a:solidFill>
                  <a:srgbClr val="2D3748"/>
                </a:solidFill>
              </a:defRPr>
            </a:pPr>
            <a:r>
              <a:t>Scanned ORGI National Data Archive. Discovered Census 1981 Household Tables (Part VIII) containing Table HH-6 Part B (Rural domestic power connections).</a:t>
            </a:r>
          </a:p>
        </p:txBody>
      </p:sp>
      <p:sp>
        <p:nvSpPr>
          <p:cNvPr id="13" name="Rounded Rectangle 12"/>
          <p:cNvSpPr/>
          <p:nvPr/>
        </p:nvSpPr>
        <p:spPr>
          <a:xfrm>
            <a:off x="731520" y="4343400"/>
            <a:ext cx="10698480"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343400"/>
            <a:ext cx="137160" cy="86868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389120"/>
            <a:ext cx="10241280" cy="777240"/>
          </a:xfrm>
          <a:prstGeom prst="rect">
            <a:avLst/>
          </a:prstGeom>
          <a:noFill/>
        </p:spPr>
        <p:txBody>
          <a:bodyPr wrap="square">
            <a:spAutoFit/>
          </a:bodyPr>
          <a:lstStyle/>
          <a:p>
            <a:pPr>
              <a:defRPr sz="1300" b="1">
                <a:solidFill>
                  <a:srgbClr val="228B22"/>
                </a:solidFill>
              </a:defRPr>
            </a:pPr>
            <a:r>
              <a:t>Phase 4: OCR Engineering &amp; Arithmetic Zero-Error Validation</a:t>
            </a:r>
          </a:p>
          <a:p>
            <a:pPr>
              <a:spcBef>
                <a:spcPts val="200"/>
              </a:spcBef>
              <a:defRPr sz="1050">
                <a:solidFill>
                  <a:srgbClr val="2D3748"/>
                </a:solidFill>
              </a:defRPr>
            </a:pPr>
            <a:r>
              <a:t>Built automated Python/pdfplumber parsing pipelines. Extracted 40 districts across Punjab, Haryana, UP; verified 100% mathematical consistency with zero discrepancy.</a:t>
            </a:r>
          </a:p>
        </p:txBody>
      </p:sp>
      <p:sp>
        <p:nvSpPr>
          <p:cNvPr id="16" name="Rounded Rectangle 15"/>
          <p:cNvSpPr/>
          <p:nvPr/>
        </p:nvSpPr>
        <p:spPr>
          <a:xfrm>
            <a:off x="731520" y="5303520"/>
            <a:ext cx="10698480" cy="8686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5303520"/>
            <a:ext cx="137160" cy="868680"/>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349240"/>
            <a:ext cx="10241280" cy="777240"/>
          </a:xfrm>
          <a:prstGeom prst="rect">
            <a:avLst/>
          </a:prstGeom>
          <a:noFill/>
        </p:spPr>
        <p:txBody>
          <a:bodyPr wrap="square">
            <a:spAutoFit/>
          </a:bodyPr>
          <a:lstStyle/>
          <a:p>
            <a:pPr>
              <a:defRPr sz="1300" b="1">
                <a:solidFill>
                  <a:srgbClr val="D9534F"/>
                </a:solidFill>
              </a:defRPr>
            </a:pPr>
            <a:r>
              <a:t>Phase 5: Spatial Harmonization &amp; Econometric Estimation</a:t>
            </a:r>
          </a:p>
          <a:p>
            <a:pPr>
              <a:spcBef>
                <a:spcPts val="200"/>
              </a:spcBef>
              <a:defRPr sz="1050">
                <a:solidFill>
                  <a:srgbClr val="2D3748"/>
                </a:solidFill>
              </a:defRPr>
            </a:pPr>
            <a:r>
              <a:t>Concorded 1981 and 1991 districts back to 1966 base boundaries. Estimated First-Stage TWFE and 1981–1991 First-Difference panels to test causal mechanisms.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1F77B4"/>
                </a:solidFill>
              </a:defRPr>
            </a:pPr>
            <a:r>
              <a:t>2. RESEARCH PROCESS</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0F2042"/>
                </a:solidFill>
              </a:defRPr>
            </a:pPr>
            <a:r>
              <a:t>Process Step 1: Auditing &amp; Evaluating ARIS-REDS Microdata</a:t>
            </a:r>
          </a:p>
        </p:txBody>
      </p:sp>
      <p:sp>
        <p:nvSpPr>
          <p:cNvPr id="4" name="Rounded Rectangle 3"/>
          <p:cNvSpPr/>
          <p:nvPr/>
        </p:nvSpPr>
        <p:spPr>
          <a:xfrm>
            <a:off x="731520" y="1463040"/>
            <a:ext cx="51206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square">
            <a:spAutoFit/>
          </a:bodyPr>
          <a:lstStyle/>
          <a:p>
            <a:pPr>
              <a:defRPr sz="1500" b="1">
                <a:solidFill>
                  <a:srgbClr val="0F2042"/>
                </a:solidFill>
              </a:defRPr>
            </a:pPr>
            <a:r>
              <a:t>Initial Data Exploration: ARIS-REDS 1982</a:t>
            </a:r>
          </a:p>
          <a:p>
            <a:pPr>
              <a:spcBef>
                <a:spcPts val="800"/>
              </a:spcBef>
              <a:defRPr sz="1150">
                <a:solidFill>
                  <a:srgbClr val="2D3748"/>
                </a:solidFill>
              </a:defRPr>
            </a:pPr>
            <a:r>
              <a:t>• Objective: Test whether the NCAER / Brown University ARIS-REDS longitudinal survey could provide pre-1991 domestic connection indicators.</a:t>
            </a:r>
          </a:p>
          <a:p>
            <a:pPr>
              <a:spcBef>
                <a:spcPts val="800"/>
              </a:spcBef>
              <a:defRPr sz="1150">
                <a:solidFill>
                  <a:srgbClr val="2D3748"/>
                </a:solidFill>
              </a:defRPr>
            </a:pPr>
            <a:r>
              <a:t>• Data Examined: 1982 Village File and Household Economic Files across 16 major Indian states (Assam excluded).</a:t>
            </a:r>
          </a:p>
          <a:p>
            <a:pPr>
              <a:spcBef>
                <a:spcPts val="800"/>
              </a:spcBef>
              <a:defRPr sz="1150">
                <a:solidFill>
                  <a:srgbClr val="2D3748"/>
                </a:solidFill>
              </a:defRPr>
            </a:pPr>
            <a:r>
              <a:t>• Sample Dimensions: 250 sample villages in 98 districts, with 4,979 interviewed households (approx. 20 households per village).</a:t>
            </a:r>
          </a:p>
          <a:p>
            <a:pPr>
              <a:spcBef>
                <a:spcPts val="800"/>
              </a:spcBef>
              <a:defRPr sz="1150">
                <a:solidFill>
                  <a:srgbClr val="2D3748"/>
                </a:solidFill>
              </a:defRPr>
            </a:pPr>
            <a:r>
              <a:t>• Sampling Structure: Designed to be representative at the State level, not the District level.</a:t>
            </a:r>
          </a:p>
          <a:p>
            <a:pPr>
              <a:spcBef>
                <a:spcPts val="1200"/>
              </a:spcBef>
              <a:defRPr sz="1050">
                <a:solidFill>
                  <a:srgbClr val="D9534F"/>
                </a:solidFill>
              </a:defRPr>
            </a:pPr>
            <a:r>
              <a:t>The Technical Limitation Identified:</a:t>
            </a:r>
            <a:br/>
            <a:r>
              <a:t>Coverage within any single district was extremely thin (usually only 2 to 4 villages per district). Furthermore, village names are anonymized in public files, preventing exact spatial linking to local infrastructure.</a:t>
            </a:r>
          </a:p>
        </p:txBody>
      </p:sp>
      <p:sp>
        <p:nvSpPr>
          <p:cNvPr id="6" name="Rounded Rectangle 5"/>
          <p:cNvSpPr/>
          <p:nvPr/>
        </p:nvSpPr>
        <p:spPr>
          <a:xfrm>
            <a:off x="6217920" y="146304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square">
            <a:spAutoFit/>
          </a:bodyPr>
          <a:lstStyle/>
          <a:p>
            <a:pPr>
              <a:defRPr sz="1500" b="1">
                <a:solidFill>
                  <a:srgbClr val="1F77B4"/>
                </a:solidFill>
              </a:defRPr>
            </a:pPr>
            <a:r>
              <a:t>Strategic Pivot &amp; Repurposing of REDS</a:t>
            </a:r>
          </a:p>
          <a:p>
            <a:pPr>
              <a:spcBef>
                <a:spcPts val="800"/>
              </a:spcBef>
              <a:defRPr sz="1150">
                <a:solidFill>
                  <a:srgbClr val="2D3748"/>
                </a:solidFill>
              </a:defRPr>
            </a:pPr>
            <a:r>
              <a:t>✔ The Decision: Do NOT use REDS household averages as the primary measure of district-wide electrification rates—sampling noise is too high at N = 2-4 villages per district.</a:t>
            </a:r>
          </a:p>
          <a:p>
            <a:pPr>
              <a:spcBef>
                <a:spcPts val="800"/>
              </a:spcBef>
              <a:defRPr sz="1150">
                <a:solidFill>
                  <a:srgbClr val="2D3748"/>
                </a:solidFill>
              </a:defRPr>
            </a:pPr>
            <a:r>
              <a:t>✔ The New Role for REDS: Utilize the REDS 1971–1999 Village Schedules (Deck 75) for historical event timing!</a:t>
            </a:r>
          </a:p>
          <a:p>
            <a:pPr>
              <a:spcBef>
                <a:spcPts val="800"/>
              </a:spcBef>
              <a:defRPr sz="1150">
                <a:solidFill>
                  <a:srgbClr val="2D3748"/>
                </a:solidFill>
              </a:defRPr>
            </a:pPr>
            <a:r>
              <a:t>✔ Extracted Variable: 'elecy' (Exact calendar year the village was first connected to the electric power grid).</a:t>
            </a:r>
          </a:p>
          <a:p>
            <a:pPr>
              <a:spcBef>
                <a:spcPts val="800"/>
              </a:spcBef>
              <a:defRPr sz="1150">
                <a:solidFill>
                  <a:srgbClr val="2D3748"/>
                </a:solidFill>
              </a:defRPr>
            </a:pPr>
            <a:r>
              <a:t>✔ Survival Analysis Built: Constructed the Kaplan-Meier cumulative adoption hazard curve across 253 villages from 1950 to 1999.</a:t>
            </a:r>
          </a:p>
          <a:p>
            <a:pPr>
              <a:spcBef>
                <a:spcPts val="800"/>
              </a:spcBef>
              <a:defRPr sz="1150">
                <a:solidFill>
                  <a:srgbClr val="2D3748"/>
                </a:solidFill>
              </a:defRPr>
            </a:pPr>
            <a:r>
              <a:t>✔ Key Discovery: Pinpointed 1969 as the structural break point when village grid expansion accelerated nationwide.</a:t>
            </a:r>
          </a:p>
          <a:p>
            <a:pPr>
              <a:spcBef>
                <a:spcPts val="1200"/>
              </a:spcBef>
              <a:defRPr sz="1050">
                <a:solidFill>
                  <a:srgbClr val="228B22"/>
                </a:solidFill>
              </a:defRPr>
            </a:pPr>
            <a:r>
              <a:t>Takeaway: Auditing REDS revealed that for district-level household connection rates, an administrative census source was indispensable.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1F77B4"/>
                </a:solidFill>
              </a:defRPr>
            </a:pPr>
            <a:r>
              <a:t>2. RESEARCH PROCESS</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0F2042"/>
                </a:solidFill>
              </a:defRPr>
            </a:pPr>
            <a:r>
              <a:t>Process Step 2: The Archival Hunt for Pre-1991 Census Records</a:t>
            </a:r>
          </a:p>
        </p:txBody>
      </p:sp>
      <p:sp>
        <p:nvSpPr>
          <p:cNvPr id="4" name="Rounded Rectangle 3"/>
          <p:cNvSpPr/>
          <p:nvPr/>
        </p:nvSpPr>
        <p:spPr>
          <a:xfrm>
            <a:off x="731520" y="1463040"/>
            <a:ext cx="51206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square">
            <a:spAutoFit/>
          </a:bodyPr>
          <a:lstStyle/>
          <a:p>
            <a:pPr>
              <a:defRPr sz="1500" b="1">
                <a:solidFill>
                  <a:srgbClr val="0F2042"/>
                </a:solidFill>
              </a:defRPr>
            </a:pPr>
            <a:r>
              <a:t>The Search Across Historical Archives</a:t>
            </a:r>
          </a:p>
          <a:p>
            <a:pPr>
              <a:spcBef>
                <a:spcPts val="700"/>
              </a:spcBef>
              <a:defRPr sz="1100">
                <a:solidFill>
                  <a:srgbClr val="2D3748"/>
                </a:solidFill>
              </a:defRPr>
            </a:pPr>
            <a:r>
              <a:t>• Literature &amp; Catalog Scan: Reviewed EPW articles, NSS rounds (NSS 38th round 1983 lacked district codes), and national library records.</a:t>
            </a:r>
          </a:p>
          <a:p>
            <a:pPr>
              <a:spcBef>
                <a:spcPts val="700"/>
              </a:spcBef>
              <a:defRPr sz="1100">
                <a:solidFill>
                  <a:srgbClr val="2D3748"/>
                </a:solidFill>
              </a:defRPr>
            </a:pPr>
            <a:r>
              <a:t>• ORGI Digital Repository: Investigated the Office of the Registrar General of India (ORGI) National Data Archive (NADA) digital catalog.</a:t>
            </a:r>
          </a:p>
          <a:p>
            <a:pPr>
              <a:spcBef>
                <a:spcPts val="700"/>
              </a:spcBef>
              <a:defRPr sz="1100">
                <a:solidFill>
                  <a:srgbClr val="2D3748"/>
                </a:solidFill>
              </a:defRPr>
            </a:pPr>
            <a:r>
              <a:t>• Breakthrough Target: Census of India 1981, Part VIII - A &amp; B 'Household Tables'.</a:t>
            </a:r>
          </a:p>
          <a:p>
            <a:pPr>
              <a:spcBef>
                <a:spcPts val="700"/>
              </a:spcBef>
              <a:defRPr sz="1100">
                <a:solidFill>
                  <a:srgbClr val="2D3748"/>
                </a:solidFill>
              </a:defRPr>
            </a:pPr>
            <a:r>
              <a:t>• Specific Target Table: Table HH-6 Part B ('Households and population by availability of electricity and tenure status of house occupied - Rural').</a:t>
            </a:r>
          </a:p>
          <a:p>
            <a:pPr>
              <a:spcBef>
                <a:spcPts val="700"/>
              </a:spcBef>
              <a:defRPr sz="1100">
                <a:solidFill>
                  <a:srgbClr val="2D3748"/>
                </a:solidFill>
              </a:defRPr>
            </a:pPr>
            <a:r>
              <a:t>• Significance: This table had never been digitized into modern research datasets (SHRUG, IPUMS, ICPSR).</a:t>
            </a:r>
          </a:p>
        </p:txBody>
      </p:sp>
      <p:sp>
        <p:nvSpPr>
          <p:cNvPr id="6" name="Rounded Rectangle 5"/>
          <p:cNvSpPr/>
          <p:nvPr/>
        </p:nvSpPr>
        <p:spPr>
          <a:xfrm>
            <a:off x="6217920" y="146304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square">
            <a:spAutoFit/>
          </a:bodyPr>
          <a:lstStyle/>
          <a:p>
            <a:pPr>
              <a:defRPr sz="1500" b="1">
                <a:solidFill>
                  <a:srgbClr val="1F77B4"/>
                </a:solidFill>
              </a:defRPr>
            </a:pPr>
            <a:r>
              <a:t>Scanned Archival Volumes Retrieved</a:t>
            </a:r>
          </a:p>
          <a:p>
            <a:pPr>
              <a:spcBef>
                <a:spcPts val="800"/>
              </a:spcBef>
              <a:defRPr b="1" sz="1150">
                <a:solidFill>
                  <a:srgbClr val="0F2042"/>
                </a:solidFill>
              </a:defRPr>
            </a:pPr>
            <a:r>
              <a:t>Series-17: Punjab (Part VIII - A &amp; B)</a:t>
            </a:r>
          </a:p>
          <a:p>
            <a:pPr>
              <a:defRPr sz="1000">
                <a:solidFill>
                  <a:srgbClr val="2D3748"/>
                </a:solidFill>
              </a:defRPr>
            </a:pPr>
            <a:r>
              <a:t>Catalog ID: 30814 | Scanned Volume (18.6 MB)</a:t>
            </a:r>
            <a:br/>
            <a:r>
              <a:t>Contains all 12 Punjab districts (Ludhiana, Amritsar, Jalandhar, Patiala, etc.).</a:t>
            </a:r>
          </a:p>
          <a:p>
            <a:pPr>
              <a:spcBef>
                <a:spcPts val="800"/>
              </a:spcBef>
              <a:defRPr b="1" sz="1150">
                <a:solidFill>
                  <a:srgbClr val="0F2042"/>
                </a:solidFill>
              </a:defRPr>
            </a:pPr>
            <a:r>
              <a:t>Series-6: Haryana (Part VIII - A &amp; B)</a:t>
            </a:r>
          </a:p>
          <a:p>
            <a:pPr>
              <a:defRPr sz="1000">
                <a:solidFill>
                  <a:srgbClr val="2D3748"/>
                </a:solidFill>
              </a:defRPr>
            </a:pPr>
            <a:r>
              <a:t>Catalog ID: 30799 | Scanned Volume (14.2 MB)</a:t>
            </a:r>
            <a:br/>
            <a:r>
              <a:t>Contains all 12 Haryana districts (Karnal, Kurukshetra, Sirsa, Hissar, Rohtak, etc.).</a:t>
            </a:r>
          </a:p>
          <a:p>
            <a:pPr>
              <a:spcBef>
                <a:spcPts val="800"/>
              </a:spcBef>
              <a:defRPr b="1" sz="1150">
                <a:solidFill>
                  <a:srgbClr val="0F2042"/>
                </a:solidFill>
              </a:defRPr>
            </a:pPr>
            <a:r>
              <a:t>Series-22: Uttar Pradesh (Part VIII - B iii)</a:t>
            </a:r>
          </a:p>
          <a:p>
            <a:pPr>
              <a:defRPr sz="1000">
                <a:solidFill>
                  <a:srgbClr val="2D3748"/>
                </a:solidFill>
              </a:defRPr>
            </a:pPr>
            <a:r>
              <a:t>Catalog ID: 30792 | Scanned Volume (21.6 MB)</a:t>
            </a:r>
            <a:br/>
            <a:r>
              <a:t>Contains all 56 UP districts, including the 16 Western UP Green Revolution core districts (Meerut, Muzaffarnagar, Bulandshahr, Aligarh).</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1F77B4"/>
                </a:solidFill>
              </a:defRPr>
            </a:pPr>
            <a:r>
              <a:t>2. RESEARCH PROCESS</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0F2042"/>
                </a:solidFill>
              </a:defRPr>
            </a:pPr>
            <a:r>
              <a:t>Process Step 3: OCR Pipeline &amp; 100% Zero-Error Validation</a:t>
            </a:r>
          </a:p>
        </p:txBody>
      </p:sp>
      <p:sp>
        <p:nvSpPr>
          <p:cNvPr id="4" name="Rounded Rectangle 3"/>
          <p:cNvSpPr/>
          <p:nvPr/>
        </p:nvSpPr>
        <p:spPr>
          <a:xfrm>
            <a:off x="731520" y="1463040"/>
            <a:ext cx="51206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square">
            <a:spAutoFit/>
          </a:bodyPr>
          <a:lstStyle/>
          <a:p>
            <a:pPr>
              <a:defRPr sz="1500" b="1">
                <a:solidFill>
                  <a:srgbClr val="0F2042"/>
                </a:solidFill>
              </a:defRPr>
            </a:pPr>
            <a:r>
              <a:t>The Engineering &amp; Parsing Challenge</a:t>
            </a:r>
          </a:p>
          <a:p>
            <a:pPr>
              <a:spcBef>
                <a:spcPts val="600"/>
              </a:spcBef>
              <a:defRPr sz="1100">
                <a:solidFill>
                  <a:srgbClr val="2D3748"/>
                </a:solidFill>
              </a:defRPr>
            </a:pPr>
            <a:r>
              <a:t>Raw Document Condition: 40-year-old scanned print with skewed table borders, column drift, and varying OCR font clarity.</a:t>
            </a:r>
          </a:p>
          <a:p>
            <a:pPr>
              <a:spcBef>
                <a:spcPts val="600"/>
              </a:spcBef>
              <a:defRPr sz="1100">
                <a:solidFill>
                  <a:srgbClr val="2D3748"/>
                </a:solidFill>
              </a:defRPr>
            </a:pPr>
            <a:r>
              <a:t>Extraction Engine: Developed custom automated Python scripts using pdfplumber coordinate bounding boxes and regex row anchors.</a:t>
            </a:r>
          </a:p>
          <a:p>
            <a:pPr>
              <a:spcBef>
                <a:spcPts val="600"/>
              </a:spcBef>
              <a:defRPr sz="1100">
                <a:solidFill>
                  <a:srgbClr val="2D3748"/>
                </a:solidFill>
              </a:defRPr>
            </a:pPr>
            <a:r>
              <a:t>Target Data Fields Extracted for Every District:</a:t>
            </a:r>
          </a:p>
          <a:p>
            <a:pPr>
              <a:spcBef>
                <a:spcPts val="600"/>
              </a:spcBef>
              <a:defRPr sz="1100">
                <a:solidFill>
                  <a:srgbClr val="2D3748"/>
                </a:solidFill>
              </a:defRPr>
            </a:pPr>
            <a:r>
              <a:t>  1. Total Rural Households</a:t>
            </a:r>
          </a:p>
          <a:p>
            <a:pPr>
              <a:spcBef>
                <a:spcPts val="600"/>
              </a:spcBef>
              <a:defRPr sz="1100">
                <a:solidFill>
                  <a:srgbClr val="2D3748"/>
                </a:solidFill>
              </a:defRPr>
            </a:pPr>
            <a:r>
              <a:t>  2. Rural Households with Electricity</a:t>
            </a:r>
          </a:p>
          <a:p>
            <a:pPr>
              <a:spcBef>
                <a:spcPts val="600"/>
              </a:spcBef>
              <a:defRPr sz="1100">
                <a:solidFill>
                  <a:srgbClr val="2D3748"/>
                </a:solidFill>
              </a:defRPr>
            </a:pPr>
            <a:r>
              <a:t>  3. Rural Households without Electricity</a:t>
            </a:r>
          </a:p>
          <a:p>
            <a:pPr>
              <a:spcBef>
                <a:spcPts val="600"/>
              </a:spcBef>
              <a:defRPr sz="1100">
                <a:solidFill>
                  <a:srgbClr val="2D3748"/>
                </a:solidFill>
              </a:defRPr>
            </a:pPr>
            <a:r>
              <a:t>  4. Breakdown by Tenure Status (Owned vs Rented)</a:t>
            </a:r>
          </a:p>
        </p:txBody>
      </p:sp>
      <p:sp>
        <p:nvSpPr>
          <p:cNvPr id="6" name="Rounded Rectangle 5"/>
          <p:cNvSpPr/>
          <p:nvPr/>
        </p:nvSpPr>
        <p:spPr>
          <a:xfrm>
            <a:off x="6217920" y="146304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square">
            <a:spAutoFit/>
          </a:bodyPr>
          <a:lstStyle/>
          <a:p>
            <a:pPr>
              <a:defRPr sz="1500" b="1">
                <a:solidFill>
                  <a:srgbClr val="228B22"/>
                </a:solidFill>
              </a:defRPr>
            </a:pPr>
            <a:r>
              <a:t>The 100% Mathematical Verification Rule</a:t>
            </a:r>
          </a:p>
          <a:p>
            <a:pPr>
              <a:spcBef>
                <a:spcPts val="600"/>
              </a:spcBef>
              <a:defRPr sz="1100" b="1">
                <a:solidFill>
                  <a:srgbClr val="1F77B4"/>
                </a:solidFill>
              </a:defRPr>
            </a:pPr>
            <a:r>
              <a:t>Validation Identity Enforced on Every District:</a:t>
            </a:r>
            <a:br/>
            <a:r>
              <a:t>Electrified HH + Non-Electrified HH ≡ Total Rural HH</a:t>
            </a:r>
          </a:p>
          <a:p>
            <a:pPr>
              <a:spcBef>
                <a:spcPts val="600"/>
              </a:spcBef>
              <a:defRPr b="1" sz="1100">
                <a:solidFill>
                  <a:srgbClr val="0F2042"/>
                </a:solidFill>
              </a:defRPr>
            </a:pPr>
            <a:r>
              <a:t>Punjab Validation (12 Districts):</a:t>
            </a:r>
          </a:p>
          <a:p>
            <a:pPr>
              <a:defRPr sz="1000">
                <a:solidFill>
                  <a:srgbClr val="2D3748"/>
                </a:solidFill>
              </a:defRPr>
            </a:pPr>
            <a:r>
              <a:t>12 of 12 districts passed perfectly. Zero discrepancy. (State: 968,725 + 957,370 = 1,926,095).</a:t>
            </a:r>
          </a:p>
          <a:p>
            <a:pPr>
              <a:spcBef>
                <a:spcPts val="600"/>
              </a:spcBef>
              <a:defRPr b="1" sz="1100">
                <a:solidFill>
                  <a:srgbClr val="0F2042"/>
                </a:solidFill>
              </a:defRPr>
            </a:pPr>
            <a:r>
              <a:t>Haryana Validation (12 Districts):</a:t>
            </a:r>
          </a:p>
          <a:p>
            <a:pPr>
              <a:defRPr sz="1000">
                <a:solidFill>
                  <a:srgbClr val="2D3748"/>
                </a:solidFill>
              </a:defRPr>
            </a:pPr>
            <a:r>
              <a:t>12 of 12 districts passed perfectly. Zero discrepancy. (State: 605,610 + 870,190 = 1,475,800).</a:t>
            </a:r>
          </a:p>
          <a:p>
            <a:pPr>
              <a:spcBef>
                <a:spcPts val="600"/>
              </a:spcBef>
              <a:defRPr b="1" sz="1100">
                <a:solidFill>
                  <a:srgbClr val="0F2042"/>
                </a:solidFill>
              </a:defRPr>
            </a:pPr>
            <a:r>
              <a:t>Western UP Validation (16 Districts):</a:t>
            </a:r>
          </a:p>
          <a:p>
            <a:pPr>
              <a:defRPr sz="1000">
                <a:solidFill>
                  <a:srgbClr val="2D3748"/>
                </a:solidFill>
              </a:defRPr>
            </a:pPr>
            <a:r>
              <a:t>16 of 16 districts passed perfectly. Zero discrepancy. (Region: 252,320 + 4,150,365 = 4,402,685).</a:t>
            </a:r>
          </a:p>
          <a:p>
            <a:pPr>
              <a:spcBef>
                <a:spcPts val="600"/>
              </a:spcBef>
              <a:defRPr b="1" sz="1100">
                <a:solidFill>
                  <a:srgbClr val="0F2042"/>
                </a:solidFill>
              </a:defRPr>
            </a:pPr>
            <a:r>
              <a:t>All-UP State Total:</a:t>
            </a:r>
          </a:p>
          <a:p>
            <a:pPr>
              <a:defRPr sz="1000">
                <a:solidFill>
                  <a:srgbClr val="2D3748"/>
                </a:solidFill>
              </a:defRPr>
            </a:pPr>
            <a:r>
              <a:t>15,641,685 Total Rural HH = 620,915 Electrified + 15,020,770 Non-Electrified. Exact zero error!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1F77B4"/>
                </a:solidFill>
              </a:defRPr>
            </a:pPr>
            <a:r>
              <a:t>2. RESEARCH PROCESS</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0F2042"/>
                </a:solidFill>
              </a:defRPr>
            </a:pPr>
            <a:r>
              <a:t>Process Step 4: Harmonizing 50 Years of District Splits</a:t>
            </a:r>
          </a:p>
        </p:txBody>
      </p:sp>
      <p:sp>
        <p:nvSpPr>
          <p:cNvPr id="4" name="Rounded Rectangle 3"/>
          <p:cNvSpPr/>
          <p:nvPr/>
        </p:nvSpPr>
        <p:spPr>
          <a:xfrm>
            <a:off x="731520" y="1463040"/>
            <a:ext cx="51206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square">
            <a:spAutoFit/>
          </a:bodyPr>
          <a:lstStyle/>
          <a:p>
            <a:pPr>
              <a:defRPr sz="1500" b="1">
                <a:solidFill>
                  <a:srgbClr val="0F2042"/>
                </a:solidFill>
              </a:defRPr>
            </a:pPr>
            <a:r>
              <a:t>The Historical Boundary Proliferation Problem</a:t>
            </a:r>
          </a:p>
          <a:p>
            <a:pPr>
              <a:spcBef>
                <a:spcPts val="500"/>
              </a:spcBef>
              <a:defRPr sz="1050">
                <a:solidFill>
                  <a:srgbClr val="2D3748"/>
                </a:solidFill>
              </a:defRPr>
            </a:pPr>
            <a:r>
              <a:t>The Boundary Problem: Indian district boundaries change constantly due to political reorganizations and administrative splits.</a:t>
            </a:r>
          </a:p>
          <a:p>
            <a:pPr>
              <a:spcBef>
                <a:spcPts val="500"/>
              </a:spcBef>
              <a:defRPr sz="1050">
                <a:solidFill>
                  <a:srgbClr val="2D3748"/>
                </a:solidFill>
              </a:defRPr>
            </a:pPr>
            <a:r>
              <a:t>If unaddressed, a newly carved child district will appear as an artificial 'drop' in population and tubewells, severely biasing panel regressions.</a:t>
            </a:r>
          </a:p>
          <a:p>
            <a:pPr>
              <a:spcBef>
                <a:spcPts val="500"/>
              </a:spcBef>
              <a:defRPr sz="1050">
                <a:solidFill>
                  <a:srgbClr val="2D3748"/>
                </a:solidFill>
              </a:defRPr>
            </a:pPr>
            <a:r>
              <a:t>Key Reorganizations Handled:</a:t>
            </a:r>
          </a:p>
          <a:p>
            <a:pPr>
              <a:spcBef>
                <a:spcPts val="500"/>
              </a:spcBef>
              <a:defRPr sz="1050">
                <a:solidFill>
                  <a:srgbClr val="2D3748"/>
                </a:solidFill>
              </a:defRPr>
            </a:pPr>
            <a:r>
              <a:t>  • 1966 Punjab Reorganization: Bifurcated into Punjab, Haryana, and Himachal Pradesh.</a:t>
            </a:r>
          </a:p>
          <a:p>
            <a:pPr>
              <a:spcBef>
                <a:spcPts val="500"/>
              </a:spcBef>
              <a:defRPr sz="1050">
                <a:solidFill>
                  <a:srgbClr val="2D3748"/>
                </a:solidFill>
              </a:defRPr>
            </a:pPr>
            <a:r>
              <a:t>  • 1970s Haryana Splits: Sirsa carved from Hissar (1975); Faridabad carved from Gurgaon (1979); Sonipat carved from Rohtak (1972).</a:t>
            </a:r>
          </a:p>
          <a:p>
            <a:pPr>
              <a:spcBef>
                <a:spcPts val="500"/>
              </a:spcBef>
              <a:defRPr sz="1050">
                <a:solidFill>
                  <a:srgbClr val="2D3748"/>
                </a:solidFill>
              </a:defRPr>
            </a:pPr>
            <a:r>
              <a:t>  • 1989 Haryana Splits: Yamunanagar from Ambala; Kaithal from Kurukshetra; Panipat from Karnal; Rewari from Gurgaon/Mahendragarh.</a:t>
            </a:r>
          </a:p>
          <a:p>
            <a:pPr>
              <a:spcBef>
                <a:spcPts val="500"/>
              </a:spcBef>
              <a:defRPr sz="1050">
                <a:solidFill>
                  <a:srgbClr val="2D3748"/>
                </a:solidFill>
              </a:defRPr>
            </a:pPr>
            <a:r>
              <a:t>  • UP Splits: Haridwar, Mau, Siddharthnagar created between 1981 and 1991.</a:t>
            </a:r>
          </a:p>
        </p:txBody>
      </p:sp>
      <p:sp>
        <p:nvSpPr>
          <p:cNvPr id="6" name="Rounded Rectangle 5"/>
          <p:cNvSpPr/>
          <p:nvPr/>
        </p:nvSpPr>
        <p:spPr>
          <a:xfrm>
            <a:off x="6217920" y="146304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square">
            <a:spAutoFit/>
          </a:bodyPr>
          <a:lstStyle/>
          <a:p>
            <a:pPr>
              <a:defRPr sz="1500" b="1">
                <a:solidFill>
                  <a:srgbClr val="1F77B4"/>
                </a:solidFill>
              </a:defRPr>
            </a:pPr>
            <a:r>
              <a:t>The Backward-Harmonization Solution</a:t>
            </a:r>
          </a:p>
          <a:p>
            <a:pPr>
              <a:spcBef>
                <a:spcPts val="600"/>
              </a:spcBef>
              <a:defRPr b="1" sz="1100">
                <a:solidFill>
                  <a:srgbClr val="0F2042"/>
                </a:solidFill>
              </a:defRPr>
            </a:pPr>
            <a:r>
              <a:t>✔ Base Boundary Anchor: </a:t>
            </a:r>
            <a:r>
              <a:rPr b="0">
                <a:solidFill>
                  <a:srgbClr val="2D3748"/>
                </a:solidFill>
              </a:rPr>
              <a:t>Harmonized all data back to 1966 parent district definitions (concordant with ICRISAT Meso panel).</a:t>
            </a:r>
          </a:p>
          <a:p>
            <a:pPr>
              <a:spcBef>
                <a:spcPts val="600"/>
              </a:spcBef>
              <a:defRPr b="1" sz="1100">
                <a:solidFill>
                  <a:srgbClr val="0F2042"/>
                </a:solidFill>
              </a:defRPr>
            </a:pPr>
            <a:r>
              <a:t>✔ Aggregation Protocol: </a:t>
            </a:r>
            <a:r>
              <a:rPr b="0">
                <a:solidFill>
                  <a:srgbClr val="2D3748"/>
                </a:solidFill>
              </a:rPr>
              <a:t>Child districts created after 1966 were mathematically aggregated back into their 1966 parent unit.</a:t>
            </a:r>
          </a:p>
          <a:p>
            <a:pPr>
              <a:spcBef>
                <a:spcPts val="600"/>
              </a:spcBef>
              <a:defRPr b="1" sz="1100">
                <a:solidFill>
                  <a:srgbClr val="0F2042"/>
                </a:solidFill>
              </a:defRPr>
            </a:pPr>
            <a:r>
              <a:t>✔ Reconstructed Balanced Panel: </a:t>
            </a:r>
            <a:r>
              <a:rPr b="0">
                <a:solidFill>
                  <a:srgbClr val="2D3748"/>
                </a:solidFill>
              </a:rPr>
              <a:t>Created 33 harmonized base districts spanning 40 administrative districts in 1981 and 44 in 1991.</a:t>
            </a:r>
          </a:p>
          <a:p>
            <a:pPr>
              <a:spcBef>
                <a:spcPts val="600"/>
              </a:spcBef>
              <a:defRPr b="1" sz="1100">
                <a:solidFill>
                  <a:srgbClr val="0F2042"/>
                </a:solidFill>
              </a:defRPr>
            </a:pPr>
            <a:r>
              <a:t>✔ Validation Check: </a:t>
            </a:r>
            <a:r>
              <a:rPr b="0">
                <a:solidFill>
                  <a:srgbClr val="2D3748"/>
                </a:solidFill>
              </a:rPr>
              <a:t>Sum of rural households in child districts matched 1981 and 1991 historical population growth trajectories perfectly.</a:t>
            </a:r>
          </a:p>
          <a:p>
            <a:pPr>
              <a:spcBef>
                <a:spcPts val="600"/>
              </a:spcBef>
              <a:defRPr b="1" sz="1100">
                <a:solidFill>
                  <a:srgbClr val="0F2042"/>
                </a:solidFill>
              </a:defRPr>
            </a:pPr>
            <a:r>
              <a:t>✔ Core Advantage: </a:t>
            </a:r>
            <a:r>
              <a:rPr b="0">
                <a:solidFill>
                  <a:srgbClr val="2D3748"/>
                </a:solidFill>
              </a:rPr>
              <a:t>Eliminates geographic boundary bias, enabling a true First-Difference (Δ1981-1991) panel.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1F77B4"/>
                </a:solidFill>
              </a:defRPr>
            </a:pPr>
            <a:r>
              <a:t>3. MASTER DATA INFRASTRUCTURE</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0F2042"/>
                </a:solidFill>
              </a:defRPr>
            </a:pPr>
            <a:r>
              <a:t>The Assembled Data Infrastructure: Four Interlinked Pillars</a:t>
            </a:r>
          </a:p>
        </p:txBody>
      </p:sp>
      <p:graphicFrame>
        <p:nvGraphicFramePr>
          <p:cNvPr id="4" name="Table 3"/>
          <p:cNvGraphicFramePr>
            <a:graphicFrameLocks noGrp="1"/>
          </p:cNvGraphicFramePr>
          <p:nvPr/>
        </p:nvGraphicFramePr>
        <p:xfrm>
          <a:off x="731520" y="1463040"/>
          <a:ext cx="10698480" cy="4754880"/>
        </p:xfrm>
        <a:graphic>
          <a:graphicData uri="http://schemas.openxmlformats.org/drawingml/2006/table">
            <a:tbl>
              <a:tblPr firstRow="1" bandRow="1">
                <a:tableStyleId>{5C22544A-7EE6-4342-B048-85BDC9FD1C3A}</a:tableStyleId>
              </a:tblPr>
              <a:tblGrid>
                <a:gridCol w="2194560"/>
                <a:gridCol w="1645920"/>
                <a:gridCol w="2926080"/>
                <a:gridCol w="3931920"/>
              </a:tblGrid>
              <a:tr h="792480">
                <a:tc>
                  <a:txBody>
                    <a:bodyPr/>
                    <a:lstStyle/>
                    <a:p>
                      <a:pPr>
                        <a:defRPr b="1" sz="1100">
                          <a:solidFill>
                            <a:srgbClr val="FFFFFF"/>
                          </a:solidFill>
                        </a:defRPr>
                      </a:pPr>
                      <a:r>
                        <a:t>Dataset Source</a:t>
                      </a:r>
                    </a:p>
                  </a:txBody>
                  <a:tcPr>
                    <a:solidFill>
                      <a:srgbClr val="0F2042"/>
                    </a:solidFill>
                  </a:tcPr>
                </a:tc>
                <a:tc>
                  <a:txBody>
                    <a:bodyPr/>
                    <a:lstStyle/>
                    <a:p>
                      <a:pPr>
                        <a:defRPr b="1" sz="1100">
                          <a:solidFill>
                            <a:srgbClr val="FFFFFF"/>
                          </a:solidFill>
                        </a:defRPr>
                      </a:pPr>
                      <a:r>
                        <a:t>Temporal Scope</a:t>
                      </a:r>
                    </a:p>
                  </a:txBody>
                  <a:tcPr>
                    <a:solidFill>
                      <a:srgbClr val="0F2042"/>
                    </a:solidFill>
                  </a:tcPr>
                </a:tc>
                <a:tc>
                  <a:txBody>
                    <a:bodyPr/>
                    <a:lstStyle/>
                    <a:p>
                      <a:pPr>
                        <a:defRPr b="1" sz="1100">
                          <a:solidFill>
                            <a:srgbClr val="FFFFFF"/>
                          </a:solidFill>
                        </a:defRPr>
                      </a:pPr>
                      <a:r>
                        <a:t>Key Variables Acquired</a:t>
                      </a:r>
                    </a:p>
                  </a:txBody>
                  <a:tcPr>
                    <a:solidFill>
                      <a:srgbClr val="0F2042"/>
                    </a:solidFill>
                  </a:tcPr>
                </a:tc>
                <a:tc>
                  <a:txBody>
                    <a:bodyPr/>
                    <a:lstStyle/>
                    <a:p>
                      <a:pPr>
                        <a:defRPr b="1" sz="1100">
                          <a:solidFill>
                            <a:srgbClr val="FFFFFF"/>
                          </a:solidFill>
                        </a:defRPr>
                      </a:pPr>
                      <a:r>
                        <a:t>Research Function in Project</a:t>
                      </a:r>
                    </a:p>
                  </a:txBody>
                  <a:tcPr>
                    <a:solidFill>
                      <a:srgbClr val="0F2042"/>
                    </a:solidFill>
                  </a:tcPr>
                </a:tc>
              </a:tr>
              <a:tr h="792480">
                <a:tc>
                  <a:txBody>
                    <a:bodyPr/>
                    <a:lstStyle/>
                    <a:p>
                      <a:pPr>
                        <a:defRPr sz="1000">
                          <a:solidFill>
                            <a:srgbClr val="2D3748"/>
                          </a:solidFill>
                        </a:defRPr>
                      </a:pPr>
                      <a:r>
                        <a:t>ICRISAT Master Agricultural Panel</a:t>
                      </a:r>
                    </a:p>
                  </a:txBody>
                  <a:tcPr>
                    <a:solidFill>
                      <a:srgbClr val="FFFFFF"/>
                    </a:solidFill>
                  </a:tcPr>
                </a:tc>
                <a:tc>
                  <a:txBody>
                    <a:bodyPr/>
                    <a:lstStyle/>
                    <a:p>
                      <a:pPr>
                        <a:defRPr sz="1000">
                          <a:solidFill>
                            <a:srgbClr val="2D3748"/>
                          </a:solidFill>
                        </a:defRPr>
                      </a:pPr>
                      <a:r>
                        <a:t>1966–2020</a:t>
                      </a:r>
                      <a:br/>
                      <a:r>
                        <a:t>(16,875 obs)</a:t>
                      </a:r>
                    </a:p>
                  </a:txBody>
                  <a:tcPr>
                    <a:solidFill>
                      <a:srgbClr val="FFFFFF"/>
                    </a:solidFill>
                  </a:tcPr>
                </a:tc>
                <a:tc>
                  <a:txBody>
                    <a:bodyPr/>
                    <a:lstStyle/>
                    <a:p>
                      <a:pPr>
                        <a:defRPr sz="1000">
                          <a:solidFill>
                            <a:srgbClr val="2D3748"/>
                          </a:solidFill>
                        </a:defRPr>
                      </a:pPr>
                      <a:r>
                        <a:t>HYV wheat/rice/maize acreage, tubewell vs canal irrigated area, gross cropped area.</a:t>
                      </a:r>
                    </a:p>
                  </a:txBody>
                  <a:tcPr>
                    <a:solidFill>
                      <a:srgbClr val="FFFFFF"/>
                    </a:solidFill>
                  </a:tcPr>
                </a:tc>
                <a:tc>
                  <a:txBody>
                    <a:bodyPr/>
                    <a:lstStyle/>
                    <a:p>
                      <a:pPr>
                        <a:defRPr sz="1000">
                          <a:solidFill>
                            <a:srgbClr val="2D3748"/>
                          </a:solidFill>
                        </a:defRPr>
                      </a:pPr>
                      <a:r>
                        <a:t>Primary agricultural shock and irrigation panel for TWFE first-stage event study.</a:t>
                      </a:r>
                    </a:p>
                  </a:txBody>
                  <a:tcPr>
                    <a:solidFill>
                      <a:srgbClr val="FFFFFF"/>
                    </a:solidFill>
                  </a:tcPr>
                </a:tc>
              </a:tr>
              <a:tr h="792480">
                <a:tc>
                  <a:txBody>
                    <a:bodyPr/>
                    <a:lstStyle/>
                    <a:p>
                      <a:pPr>
                        <a:defRPr sz="1000">
                          <a:solidFill>
                            <a:srgbClr val="2D3748"/>
                          </a:solidFill>
                        </a:defRPr>
                      </a:pPr>
                      <a:r>
                        <a:t>ARIS-REDS Village Schedule Deck 75</a:t>
                      </a:r>
                    </a:p>
                  </a:txBody>
                  <a:tcPr>
                    <a:solidFill>
                      <a:srgbClr val="F8FAFC"/>
                    </a:solidFill>
                  </a:tcPr>
                </a:tc>
                <a:tc>
                  <a:txBody>
                    <a:bodyPr/>
                    <a:lstStyle/>
                    <a:p>
                      <a:pPr>
                        <a:defRPr sz="1000">
                          <a:solidFill>
                            <a:srgbClr val="2D3748"/>
                          </a:solidFill>
                        </a:defRPr>
                      </a:pPr>
                      <a:r>
                        <a:t>1971, 1982, 1999</a:t>
                      </a:r>
                      <a:br/>
                      <a:r>
                        <a:t>(253 villages)</a:t>
                      </a:r>
                    </a:p>
                  </a:txBody>
                  <a:tcPr>
                    <a:solidFill>
                      <a:srgbClr val="F8FAFC"/>
                    </a:solidFill>
                  </a:tcPr>
                </a:tc>
                <a:tc>
                  <a:txBody>
                    <a:bodyPr/>
                    <a:lstStyle/>
                    <a:p>
                      <a:pPr>
                        <a:defRPr sz="1000">
                          <a:solidFill>
                            <a:srgbClr val="2D3748"/>
                          </a:solidFill>
                        </a:defRPr>
                      </a:pPr>
                      <a:r>
                        <a:t>Exact year village electrified (elecy), domestic connections, electric pumps, TVs.</a:t>
                      </a:r>
                    </a:p>
                  </a:txBody>
                  <a:tcPr>
                    <a:solidFill>
                      <a:srgbClr val="F8FAFC"/>
                    </a:solidFill>
                  </a:tcPr>
                </a:tc>
                <a:tc>
                  <a:txBody>
                    <a:bodyPr/>
                    <a:lstStyle/>
                    <a:p>
                      <a:pPr>
                        <a:defRPr sz="1000">
                          <a:solidFill>
                            <a:srgbClr val="2D3748"/>
                          </a:solidFill>
                        </a:defRPr>
                      </a:pPr>
                      <a:r>
                        <a:t>Survival analysis on electrification timing and duration of household demand lags.</a:t>
                      </a:r>
                    </a:p>
                  </a:txBody>
                  <a:tcPr>
                    <a:solidFill>
                      <a:srgbClr val="F8FAFC"/>
                    </a:solidFill>
                  </a:tcPr>
                </a:tc>
              </a:tr>
              <a:tr h="792480">
                <a:tc>
                  <a:txBody>
                    <a:bodyPr/>
                    <a:lstStyle/>
                    <a:p>
                      <a:pPr>
                        <a:defRPr sz="1000">
                          <a:solidFill>
                            <a:srgbClr val="2D3748"/>
                          </a:solidFill>
                        </a:defRPr>
                      </a:pPr>
                      <a:r>
                        <a:t>Census 1981 Table HH-6 Part B (OCR)</a:t>
                      </a:r>
                    </a:p>
                  </a:txBody>
                  <a:tcPr>
                    <a:solidFill>
                      <a:srgbClr val="FFFFFF"/>
                    </a:solidFill>
                  </a:tcPr>
                </a:tc>
                <a:tc>
                  <a:txBody>
                    <a:bodyPr/>
                    <a:lstStyle/>
                    <a:p>
                      <a:pPr>
                        <a:defRPr sz="1000">
                          <a:solidFill>
                            <a:srgbClr val="2D3748"/>
                          </a:solidFill>
                        </a:defRPr>
                      </a:pPr>
                      <a:r>
                        <a:t>1981</a:t>
                      </a:r>
                      <a:br/>
                      <a:r>
                        <a:t>(40 districts)</a:t>
                      </a:r>
                    </a:p>
                  </a:txBody>
                  <a:tcPr>
                    <a:solidFill>
                      <a:srgbClr val="FFFFFF"/>
                    </a:solidFill>
                  </a:tcPr>
                </a:tc>
                <a:tc>
                  <a:txBody>
                    <a:bodyPr/>
                    <a:lstStyle/>
                    <a:p>
                      <a:pPr>
                        <a:defRPr sz="1000">
                          <a:solidFill>
                            <a:srgbClr val="2D3748"/>
                          </a:solidFill>
                        </a:defRPr>
                      </a:pPr>
                      <a:r>
                        <a:t>Rural households with electricity, without electricity, tenure (owned/rented).</a:t>
                      </a:r>
                    </a:p>
                  </a:txBody>
                  <a:tcPr>
                    <a:solidFill>
                      <a:srgbClr val="FFFFFF"/>
                    </a:solidFill>
                  </a:tcPr>
                </a:tc>
                <a:tc>
                  <a:txBody>
                    <a:bodyPr/>
                    <a:lstStyle/>
                    <a:p>
                      <a:pPr>
                        <a:defRPr sz="1000">
                          <a:solidFill>
                            <a:srgbClr val="2D3748"/>
                          </a:solidFill>
                        </a:defRPr>
                      </a:pPr>
                      <a:r>
                        <a:t>Pre-1991 baseline household domestic connection rates for Punjab, Haryana, and UP.</a:t>
                      </a:r>
                    </a:p>
                  </a:txBody>
                  <a:tcPr>
                    <a:solidFill>
                      <a:srgbClr val="FFFFFF"/>
                    </a:solidFill>
                  </a:tcPr>
                </a:tc>
              </a:tr>
              <a:tr h="792480">
                <a:tc>
                  <a:txBody>
                    <a:bodyPr/>
                    <a:lstStyle/>
                    <a:p>
                      <a:pPr>
                        <a:defRPr sz="1000">
                          <a:solidFill>
                            <a:srgbClr val="2D3748"/>
                          </a:solidFill>
                        </a:defRPr>
                      </a:pPr>
                      <a:r>
                        <a:t>Census 1991 Table H-4 &amp; SHRUG VD91</a:t>
                      </a:r>
                    </a:p>
                  </a:txBody>
                  <a:tcPr>
                    <a:solidFill>
                      <a:srgbClr val="F8FAFC"/>
                    </a:solidFill>
                  </a:tcPr>
                </a:tc>
                <a:tc>
                  <a:txBody>
                    <a:bodyPr/>
                    <a:lstStyle/>
                    <a:p>
                      <a:pPr>
                        <a:defRPr sz="1000">
                          <a:solidFill>
                            <a:srgbClr val="2D3748"/>
                          </a:solidFill>
                        </a:defRPr>
                      </a:pPr>
                      <a:r>
                        <a:t>1991</a:t>
                      </a:r>
                      <a:br/>
                      <a:r>
                        <a:t>(Full India)</a:t>
                      </a:r>
                    </a:p>
                  </a:txBody>
                  <a:tcPr>
                    <a:solidFill>
                      <a:srgbClr val="F8FAFC"/>
                    </a:solidFill>
                  </a:tcPr>
                </a:tc>
                <a:tc>
                  <a:txBody>
                    <a:bodyPr/>
                    <a:lstStyle/>
                    <a:p>
                      <a:pPr>
                        <a:defRPr sz="1000">
                          <a:solidFill>
                            <a:srgbClr val="2D3748"/>
                          </a:solidFill>
                        </a:defRPr>
                      </a:pPr>
                      <a:r>
                        <a:t>District &amp; state domestic electricity %, electric vs diesel tubewells (tw_w_el).</a:t>
                      </a:r>
                    </a:p>
                  </a:txBody>
                  <a:tcPr>
                    <a:solidFill>
                      <a:srgbClr val="F8FAFC"/>
                    </a:solidFill>
                  </a:tcPr>
                </a:tc>
                <a:tc>
                  <a:txBody>
                    <a:bodyPr/>
                    <a:lstStyle/>
                    <a:p>
                      <a:pPr>
                        <a:defRPr sz="1000">
                          <a:solidFill>
                            <a:srgbClr val="2D3748"/>
                          </a:solidFill>
                        </a:defRPr>
                      </a:pPr>
                      <a:r>
                        <a:t>Follow-up round for 1981–1991 First-Difference panel of decadal transformation.</a:t>
                      </a:r>
                    </a:p>
                  </a:txBody>
                  <a:tcPr>
                    <a:solidFill>
                      <a:srgbClr val="F8FAFC"/>
                    </a:solidFill>
                  </a:tcPr>
                </a:tc>
              </a:tr>
              <a:tr h="792480">
                <a:tc>
                  <a:txBody>
                    <a:bodyPr/>
                    <a:lstStyle/>
                    <a:p>
                      <a:pPr>
                        <a:defRPr sz="1000">
                          <a:solidFill>
                            <a:srgbClr val="2D3748"/>
                          </a:solidFill>
                        </a:defRPr>
                      </a:pPr>
                      <a:r>
                        <a:t>Harmonized 1966 Crosswalk Panel</a:t>
                      </a:r>
                    </a:p>
                  </a:txBody>
                  <a:tcPr>
                    <a:solidFill>
                      <a:srgbClr val="FFFFFF"/>
                    </a:solidFill>
                  </a:tcPr>
                </a:tc>
                <a:tc>
                  <a:txBody>
                    <a:bodyPr/>
                    <a:lstStyle/>
                    <a:p>
                      <a:pPr>
                        <a:defRPr sz="1000">
                          <a:solidFill>
                            <a:srgbClr val="2D3748"/>
                          </a:solidFill>
                        </a:defRPr>
                      </a:pPr>
                      <a:r>
                        <a:t>Harmonized</a:t>
                      </a:r>
                      <a:br/>
                      <a:r>
                        <a:t>(33 base dists)</a:t>
                      </a:r>
                    </a:p>
                  </a:txBody>
                  <a:tcPr>
                    <a:solidFill>
                      <a:srgbClr val="FFFFFF"/>
                    </a:solidFill>
                  </a:tcPr>
                </a:tc>
                <a:tc>
                  <a:txBody>
                    <a:bodyPr/>
                    <a:lstStyle/>
                    <a:p>
                      <a:pPr>
                        <a:defRPr sz="1000">
                          <a:solidFill>
                            <a:srgbClr val="2D3748"/>
                          </a:solidFill>
                        </a:defRPr>
                      </a:pPr>
                      <a:r>
                        <a:t>Apportioned 1966 base boundaries, 1981 rates, 1991 rates, decadal change ΔY.</a:t>
                      </a:r>
                    </a:p>
                  </a:txBody>
                  <a:tcPr>
                    <a:solidFill>
                      <a:srgbClr val="FFFFFF"/>
                    </a:solidFill>
                  </a:tcPr>
                </a:tc>
                <a:tc>
                  <a:txBody>
                    <a:bodyPr/>
                    <a:lstStyle/>
                    <a:p>
                      <a:pPr>
                        <a:defRPr sz="1000">
                          <a:solidFill>
                            <a:srgbClr val="2D3748"/>
                          </a:solidFill>
                        </a:defRPr>
                      </a:pPr>
                      <a:r>
                        <a:t>Clean econometrically balanced panel eliminating boundary split biases.</a:t>
                      </a:r>
                    </a:p>
                  </a:txBody>
                  <a:tcPr>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1F77B4"/>
                </a:solidFill>
              </a:defRPr>
            </a:pPr>
            <a:r>
              <a:t>4. ECONOMETRIC STRATEGY</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0F2042"/>
                </a:solidFill>
              </a:defRPr>
            </a:pPr>
            <a:r>
              <a:t>Econometric Modeling Strategy: Step-by-Step Identification</a:t>
            </a:r>
          </a:p>
        </p:txBody>
      </p:sp>
      <p:sp>
        <p:nvSpPr>
          <p:cNvPr id="4" name="Rounded Rectangle 3"/>
          <p:cNvSpPr/>
          <p:nvPr/>
        </p:nvSpPr>
        <p:spPr>
          <a:xfrm>
            <a:off x="731520" y="1463040"/>
            <a:ext cx="10698480"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63040"/>
            <a:ext cx="137160" cy="1051560"/>
          </a:xfrm>
          <a:prstGeom prst="rect">
            <a:avLst/>
          </a:prstGeom>
          <a:solidFill>
            <a:srgbClr val="1F77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536192"/>
            <a:ext cx="10241280" cy="914400"/>
          </a:xfrm>
          <a:prstGeom prst="rect">
            <a:avLst/>
          </a:prstGeom>
          <a:noFill/>
        </p:spPr>
        <p:txBody>
          <a:bodyPr wrap="square">
            <a:spAutoFit/>
          </a:bodyPr>
          <a:lstStyle/>
          <a:p>
            <a:pPr>
              <a:defRPr sz="1300" b="1">
                <a:solidFill>
                  <a:srgbClr val="1F77B4"/>
                </a:solidFill>
              </a:defRPr>
            </a:pPr>
            <a:r>
              <a:t>Step 1: Village-Level Hazard Survival Model</a:t>
            </a:r>
          </a:p>
          <a:p>
            <a:pPr>
              <a:spcBef>
                <a:spcPts val="300"/>
              </a:spcBef>
              <a:defRPr sz="1050">
                <a:solidFill>
                  <a:srgbClr val="2D3748"/>
                </a:solidFill>
              </a:defRPr>
            </a:pPr>
            <a:r>
              <a:t>Model: Kaplan-Meier &amp; Cox Proportional Hazards using ARIS-REDS Deck 75.</a:t>
            </a:r>
            <a:br/>
            <a:r>
              <a:t>Objective: Identify structural break dates in village grid arrival and assess whether the 1969 Rural Electrification Corporation (REC) mandate accelerated village connection rates.</a:t>
            </a:r>
          </a:p>
        </p:txBody>
      </p:sp>
      <p:sp>
        <p:nvSpPr>
          <p:cNvPr id="7" name="Rounded Rectangle 6"/>
          <p:cNvSpPr/>
          <p:nvPr/>
        </p:nvSpPr>
        <p:spPr>
          <a:xfrm>
            <a:off x="731520" y="2651760"/>
            <a:ext cx="10698480"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2651760"/>
            <a:ext cx="137160" cy="1051560"/>
          </a:xfrm>
          <a:prstGeom prst="rect">
            <a:avLst/>
          </a:prstGeom>
          <a:solidFill>
            <a:srgbClr val="0F2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724912"/>
            <a:ext cx="10241280" cy="914400"/>
          </a:xfrm>
          <a:prstGeom prst="rect">
            <a:avLst/>
          </a:prstGeom>
          <a:noFill/>
        </p:spPr>
        <p:txBody>
          <a:bodyPr wrap="square">
            <a:spAutoFit/>
          </a:bodyPr>
          <a:lstStyle/>
          <a:p>
            <a:pPr>
              <a:defRPr sz="1300" b="1">
                <a:solidFill>
                  <a:srgbClr val="0F2042"/>
                </a:solidFill>
              </a:defRPr>
            </a:pPr>
            <a:r>
              <a:t>Step 2: District-Level First-Stage Event Study (TWFE)</a:t>
            </a:r>
          </a:p>
          <a:p>
            <a:pPr>
              <a:spcBef>
                <a:spcPts val="300"/>
              </a:spcBef>
              <a:defRPr sz="1050">
                <a:solidFill>
                  <a:srgbClr val="2D3748"/>
                </a:solidFill>
              </a:defRPr>
            </a:pPr>
            <a:r>
              <a:t>Model: TubewellsArea_dt = α_d + γ_t + β1 HYV_Wheat_dt + β2 HYV_Rice_dt + ε_dt.</a:t>
            </a:r>
            <a:br/>
            <a:r>
              <a:t>Objective: Test whether the agricultural technology shock specifically drove groundwater tubewell irrigation, testing wheat vs. rice crop-specific heterogeneity.</a:t>
            </a:r>
          </a:p>
        </p:txBody>
      </p:sp>
      <p:sp>
        <p:nvSpPr>
          <p:cNvPr id="10" name="Rounded Rectangle 9"/>
          <p:cNvSpPr/>
          <p:nvPr/>
        </p:nvSpPr>
        <p:spPr>
          <a:xfrm>
            <a:off x="731520" y="3840480"/>
            <a:ext cx="10698480"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840480"/>
            <a:ext cx="137160" cy="1051560"/>
          </a:xfrm>
          <a:prstGeom prst="rect">
            <a:avLst/>
          </a:prstGeom>
          <a:solidFill>
            <a:srgbClr val="703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3913632"/>
            <a:ext cx="10241280" cy="914400"/>
          </a:xfrm>
          <a:prstGeom prst="rect">
            <a:avLst/>
          </a:prstGeom>
          <a:noFill/>
        </p:spPr>
        <p:txBody>
          <a:bodyPr wrap="square">
            <a:spAutoFit/>
          </a:bodyPr>
          <a:lstStyle/>
          <a:p>
            <a:pPr>
              <a:defRPr sz="1300" b="1">
                <a:solidFill>
                  <a:srgbClr val="7030A0"/>
                </a:solidFill>
              </a:defRPr>
            </a:pPr>
            <a:r>
              <a:t>Step 3: 1981 Cross-Sectional Gradient Analysis</a:t>
            </a:r>
          </a:p>
          <a:p>
            <a:pPr>
              <a:spcBef>
                <a:spcPts val="300"/>
              </a:spcBef>
              <a:defRPr sz="1050">
                <a:solidFill>
                  <a:srgbClr val="2D3748"/>
                </a:solidFill>
              </a:defRPr>
            </a:pPr>
            <a:r>
              <a:t>Model: PctElectrified_d,1981 = α + β1 WheatShare_d + β2 TubewellShare_d + StateFE + ε_d.</a:t>
            </a:r>
            <a:br/>
            <a:r>
              <a:t>Objective: Disprove the literature's assumption of 'zero pre-1991 variation' and verify that domestic connections were already spatially aligned with pump density in 1981.</a:t>
            </a:r>
          </a:p>
        </p:txBody>
      </p:sp>
      <p:sp>
        <p:nvSpPr>
          <p:cNvPr id="13" name="Rounded Rectangle 12"/>
          <p:cNvSpPr/>
          <p:nvPr/>
        </p:nvSpPr>
        <p:spPr>
          <a:xfrm>
            <a:off x="731520" y="5029200"/>
            <a:ext cx="10698480"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5029200"/>
            <a:ext cx="137160" cy="1051560"/>
          </a:xfrm>
          <a:prstGeom prst="rect">
            <a:avLst/>
          </a:prstGeom>
          <a:solidFill>
            <a:srgbClr val="228B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5102352"/>
            <a:ext cx="10241280" cy="914400"/>
          </a:xfrm>
          <a:prstGeom prst="rect">
            <a:avLst/>
          </a:prstGeom>
          <a:noFill/>
        </p:spPr>
        <p:txBody>
          <a:bodyPr wrap="square">
            <a:spAutoFit/>
          </a:bodyPr>
          <a:lstStyle/>
          <a:p>
            <a:pPr>
              <a:defRPr sz="1300" b="1">
                <a:solidFill>
                  <a:srgbClr val="228B22"/>
                </a:solidFill>
              </a:defRPr>
            </a:pPr>
            <a:r>
              <a:t>Step 4: 1981 to 1991 First-Difference Panel</a:t>
            </a:r>
          </a:p>
          <a:p>
            <a:pPr>
              <a:spcBef>
                <a:spcPts val="300"/>
              </a:spcBef>
              <a:defRPr sz="1050">
                <a:solidFill>
                  <a:srgbClr val="2D3748"/>
                </a:solidFill>
              </a:defRPr>
            </a:pPr>
            <a:r>
              <a:t>Model: ΔPctElectrified_d(1981-&gt;1991) = α + β1 EarlyWheatShare_d(1966-75) + β2 ΔTubewells + ε_d.</a:t>
            </a:r>
            <a:br/>
            <a:r>
              <a:t>Objective: Sweep out all time-invariant unobserved confounders (soil, geography, institutions) to measure causal decadal spillovers from Green Revolution exposure.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1F77B4"/>
                </a:solidFill>
              </a:defRPr>
            </a:pPr>
            <a:r>
              <a:t>5. EMPIRICAL RESULTS</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0F2042"/>
                </a:solidFill>
              </a:defRPr>
            </a:pPr>
            <a:r>
              <a:t>First-Stage Event Study: HYV Wheat Caused Tubewell Boom</a:t>
            </a:r>
          </a:p>
        </p:txBody>
      </p:sp>
      <p:sp>
        <p:nvSpPr>
          <p:cNvPr id="4" name="Rounded Rectangle 3"/>
          <p:cNvSpPr/>
          <p:nvPr/>
        </p:nvSpPr>
        <p:spPr>
          <a:xfrm>
            <a:off x="731520" y="1463040"/>
            <a:ext cx="42062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840480" cy="4389120"/>
          </a:xfrm>
          <a:prstGeom prst="rect">
            <a:avLst/>
          </a:prstGeom>
          <a:noFill/>
        </p:spPr>
        <p:txBody>
          <a:bodyPr wrap="square">
            <a:spAutoFit/>
          </a:bodyPr>
          <a:lstStyle/>
          <a:p>
            <a:pPr>
              <a:defRPr sz="1400" b="1">
                <a:solidFill>
                  <a:srgbClr val="0F2042"/>
                </a:solidFill>
              </a:defRPr>
            </a:pPr>
            <a:r>
              <a:t>Two-Way Fixed Effects Model</a:t>
            </a:r>
          </a:p>
          <a:p>
            <a:pPr>
              <a:spcBef>
                <a:spcPts val="400"/>
              </a:spcBef>
              <a:defRPr sz="950">
                <a:solidFill>
                  <a:srgbClr val="1F77B4"/>
                </a:solidFill>
              </a:defRPr>
            </a:pPr>
            <a:r>
              <a:t>TubewellsArea_dt = α_d + γ_t + β1 HYV_Wheat_dt + β2 HYV_Rice_dt + ε_dt</a:t>
            </a:r>
          </a:p>
          <a:p>
            <a:pPr>
              <a:spcBef>
                <a:spcPts val="500"/>
              </a:spcBef>
              <a:defRPr b="1" sz="1000">
                <a:solidFill>
                  <a:srgbClr val="2D3748"/>
                </a:solidFill>
              </a:defRPr>
            </a:pPr>
            <a:r>
              <a:t>Sample Size: </a:t>
            </a:r>
            <a:r>
              <a:rPr b="0">
                <a:solidFill>
                  <a:srgbClr val="2D3748"/>
                </a:solidFill>
              </a:rPr>
              <a:t>12,020 district-years (301 districts, 40 yrs)</a:t>
            </a:r>
          </a:p>
          <a:p>
            <a:pPr>
              <a:spcBef>
                <a:spcPts val="500"/>
              </a:spcBef>
              <a:defRPr b="1" sz="1000">
                <a:solidFill>
                  <a:srgbClr val="2D3748"/>
                </a:solidFill>
              </a:defRPr>
            </a:pPr>
            <a:r>
              <a:t>HYV Wheat Coeff (β1): </a:t>
            </a:r>
            <a:r>
              <a:rPr b="1">
                <a:solidFill>
                  <a:srgbClr val="228B22"/>
                </a:solidFill>
              </a:rPr>
              <a:t>+0.1468 *** (t = 3.15, p = 0.0016)</a:t>
            </a:r>
          </a:p>
          <a:p>
            <a:pPr>
              <a:spcBef>
                <a:spcPts val="500"/>
              </a:spcBef>
              <a:defRPr b="1" sz="1000">
                <a:solidFill>
                  <a:srgbClr val="2D3748"/>
                </a:solidFill>
              </a:defRPr>
            </a:pPr>
            <a:r>
              <a:t>HYV Rice Coeff (β2): </a:t>
            </a:r>
            <a:r>
              <a:rPr b="0">
                <a:solidFill>
                  <a:srgbClr val="2D3748"/>
                </a:solidFill>
              </a:rPr>
              <a:t>-0.0109 (t = -0.48, p = 0.6318)</a:t>
            </a:r>
          </a:p>
          <a:p>
            <a:pPr>
              <a:spcBef>
                <a:spcPts val="500"/>
              </a:spcBef>
              <a:defRPr b="1" sz="1000">
                <a:solidFill>
                  <a:srgbClr val="2D3748"/>
                </a:solidFill>
              </a:defRPr>
            </a:pPr>
            <a:r>
              <a:t>District &amp; Year FE: </a:t>
            </a:r>
            <a:r>
              <a:rPr b="0">
                <a:solidFill>
                  <a:srgbClr val="2D3748"/>
                </a:solidFill>
              </a:rPr>
              <a:t>Included (Clustered SE by district)</a:t>
            </a:r>
          </a:p>
          <a:p>
            <a:pPr>
              <a:spcBef>
                <a:spcPts val="500"/>
              </a:spcBef>
              <a:defRPr b="1" sz="1000">
                <a:solidFill>
                  <a:srgbClr val="2D3748"/>
                </a:solidFill>
              </a:defRPr>
            </a:pPr>
            <a:r>
              <a:t>Overall Model R²: </a:t>
            </a:r>
            <a:r>
              <a:rPr b="0">
                <a:solidFill>
                  <a:srgbClr val="2D3748"/>
                </a:solidFill>
              </a:rPr>
              <a:t>0.8211 (82.1% variance explained)</a:t>
            </a:r>
          </a:p>
          <a:p>
            <a:pPr>
              <a:spcBef>
                <a:spcPts val="1000"/>
              </a:spcBef>
              <a:defRPr sz="950">
                <a:solidFill>
                  <a:srgbClr val="D9534F"/>
                </a:solidFill>
              </a:defRPr>
            </a:pPr>
            <a:r>
              <a:t>Crucial Empirical Discovery:</a:t>
            </a:r>
            <a:br/>
            <a:r>
              <a:t>The Green Revolution's tubewell boom was exclusively driven by HYV Wheat. HYV Rice in this era relied on public canal systems and surface monsoons, failing to trigger private energized pumpsets.</a:t>
            </a:r>
          </a:p>
        </p:txBody>
      </p:sp>
      <p:pic>
        <p:nvPicPr>
          <p:cNvPr id="6" name="Picture 5" descr="first_stage_event_study_tubewells.png"/>
          <p:cNvPicPr>
            <a:picLocks noChangeAspect="1"/>
          </p:cNvPicPr>
          <p:nvPr/>
        </p:nvPicPr>
        <p:blipFill>
          <a:blip r:embed="rId2"/>
          <a:stretch>
            <a:fillRect/>
          </a:stretch>
        </p:blipFill>
        <p:spPr>
          <a:xfrm>
            <a:off x="5120640" y="1463040"/>
            <a:ext cx="6309360" cy="3470148"/>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1F77B4"/>
                </a:solidFill>
              </a:defRPr>
            </a:pPr>
            <a:r>
              <a:t>5. EMPIRICAL RESULTS</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0F2042"/>
                </a:solidFill>
              </a:defRPr>
            </a:pPr>
            <a:r>
              <a:t>Decadal Divergence &amp; Infrastructure Expansion Timing</a:t>
            </a:r>
          </a:p>
        </p:txBody>
      </p:sp>
      <p:pic>
        <p:nvPicPr>
          <p:cNvPr id="4" name="Picture 3" descr="tubewell_divergence_trends.png"/>
          <p:cNvPicPr>
            <a:picLocks noChangeAspect="1"/>
          </p:cNvPicPr>
          <p:nvPr/>
        </p:nvPicPr>
        <p:blipFill>
          <a:blip r:embed="rId2"/>
          <a:stretch>
            <a:fillRect/>
          </a:stretch>
        </p:blipFill>
        <p:spPr>
          <a:xfrm>
            <a:off x="731520" y="1463040"/>
            <a:ext cx="5212080" cy="2866644"/>
          </a:xfrm>
          <a:prstGeom prst="rect">
            <a:avLst/>
          </a:prstGeom>
        </p:spPr>
      </p:pic>
      <p:pic>
        <p:nvPicPr>
          <p:cNvPr id="5" name="Picture 4" descr="village_electrification_cumulative_hazard.png"/>
          <p:cNvPicPr>
            <a:picLocks noChangeAspect="1"/>
          </p:cNvPicPr>
          <p:nvPr/>
        </p:nvPicPr>
        <p:blipFill>
          <a:blip r:embed="rId3"/>
          <a:stretch>
            <a:fillRect/>
          </a:stretch>
        </p:blipFill>
        <p:spPr>
          <a:xfrm>
            <a:off x="6217920" y="1463040"/>
            <a:ext cx="5212080" cy="2866644"/>
          </a:xfrm>
          <a:prstGeom prst="rect">
            <a:avLst/>
          </a:prstGeom>
        </p:spPr>
      </p:pic>
      <p:sp>
        <p:nvSpPr>
          <p:cNvPr id="6" name="Rounded Rectangle 5"/>
          <p:cNvSpPr/>
          <p:nvPr/>
        </p:nvSpPr>
        <p:spPr>
          <a:xfrm>
            <a:off x="731520" y="5212080"/>
            <a:ext cx="10698480" cy="118872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5303520"/>
            <a:ext cx="10332720" cy="1005840"/>
          </a:xfrm>
          <a:prstGeom prst="rect">
            <a:avLst/>
          </a:prstGeom>
          <a:noFill/>
        </p:spPr>
        <p:txBody>
          <a:bodyPr wrap="square">
            <a:spAutoFit/>
          </a:bodyPr>
          <a:lstStyle/>
          <a:p>
            <a:pPr>
              <a:defRPr b="1" sz="1200">
                <a:solidFill>
                  <a:srgbClr val="0F2042"/>
                </a:solidFill>
              </a:defRPr>
            </a:pPr>
            <a:r>
              <a:t>Key Observations from Longitudinal Data:</a:t>
            </a:r>
          </a:p>
          <a:p>
            <a:pPr>
              <a:spcBef>
                <a:spcPts val="300"/>
              </a:spcBef>
              <a:defRPr sz="1050">
                <a:solidFill>
                  <a:srgbClr val="2D3748"/>
                </a:solidFill>
              </a:defRPr>
            </a:pPr>
            <a:r>
              <a:t>1. Tubewell Divergence: Early HYV districts jumped from 7.79 k ha (1966) to 43.34 k ha (1975, +556%), while other districts grew to only 15.44 k ha. 2. Electrification Hazard: The sharp upward inflection in village grid arrival begins in 1969—exactly when the Rural Electrification Corporation (REC) was established following the All-India Rural Credit Review Committee to finance agricultural pumpset energisation.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1F77B4"/>
                </a:solidFill>
              </a:defRPr>
            </a:pPr>
            <a:r>
              <a:t>5. EMPIRICAL RESULTS</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0F2042"/>
                </a:solidFill>
              </a:defRPr>
            </a:pPr>
            <a:r>
              <a:t>Digitized Census 1981: Dispelling the 'No Variation' Myth</a:t>
            </a:r>
          </a:p>
        </p:txBody>
      </p:sp>
      <p:sp>
        <p:nvSpPr>
          <p:cNvPr id="4" name="Rounded Rectangle 3"/>
          <p:cNvSpPr/>
          <p:nvPr/>
        </p:nvSpPr>
        <p:spPr>
          <a:xfrm>
            <a:off x="731520" y="1463040"/>
            <a:ext cx="51206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square">
            <a:spAutoFit/>
          </a:bodyPr>
          <a:lstStyle/>
          <a:p>
            <a:pPr>
              <a:defRPr sz="1500" b="1">
                <a:solidFill>
                  <a:srgbClr val="0F2042"/>
                </a:solidFill>
              </a:defRPr>
            </a:pPr>
            <a:r>
              <a:t>Challenging the Economic Literature</a:t>
            </a:r>
          </a:p>
          <a:p>
            <a:pPr>
              <a:spcBef>
                <a:spcPts val="800"/>
              </a:spcBef>
              <a:defRPr sz="1100">
                <a:solidFill>
                  <a:srgbClr val="2D3748"/>
                </a:solidFill>
              </a:defRPr>
            </a:pPr>
            <a:r>
              <a:t>• The Conventional Assumption: Economists often claimed that before 1991, Indian rural electrification was virtually non-existent or uniformly low, offering zero identifying variation.</a:t>
            </a:r>
          </a:p>
          <a:p>
            <a:pPr>
              <a:spcBef>
                <a:spcPts val="800"/>
              </a:spcBef>
              <a:defRPr sz="1100">
                <a:solidFill>
                  <a:srgbClr val="2D3748"/>
                </a:solidFill>
              </a:defRPr>
            </a:pPr>
            <a:r>
              <a:t>• Our Empirical Finding: Across our digitized 1981 Census dataset, rural household electrification rates varied dramatically from 64.75% down to 1.42%!</a:t>
            </a:r>
          </a:p>
          <a:p>
            <a:pPr>
              <a:spcBef>
                <a:spcPts val="800"/>
              </a:spcBef>
              <a:defRPr sz="1100">
                <a:solidFill>
                  <a:srgbClr val="2D3748"/>
                </a:solidFill>
              </a:defRPr>
            </a:pPr>
            <a:r>
              <a:t>• Punjab State Total: 50.29% of all rural households already had domestic electric power connections in 1981.</a:t>
            </a:r>
          </a:p>
          <a:p>
            <a:pPr>
              <a:spcBef>
                <a:spcPts val="800"/>
              </a:spcBef>
              <a:defRPr sz="1100">
                <a:solidFill>
                  <a:srgbClr val="2D3748"/>
                </a:solidFill>
              </a:defRPr>
            </a:pPr>
            <a:r>
              <a:t>• Haryana State Total: 41.04% of rural households had electricity in 1981.</a:t>
            </a:r>
          </a:p>
          <a:p>
            <a:pPr>
              <a:spcBef>
                <a:spcPts val="800"/>
              </a:spcBef>
              <a:defRPr sz="1100">
                <a:solidFill>
                  <a:srgbClr val="2D3748"/>
                </a:solidFill>
              </a:defRPr>
            </a:pPr>
            <a:r>
              <a:t>• Uttar Pradesh State Total: 3.97% overall, but Western UP's Green Revolution districts reached over 10%.</a:t>
            </a:r>
          </a:p>
        </p:txBody>
      </p:sp>
      <p:sp>
        <p:nvSpPr>
          <p:cNvPr id="6" name="Rounded Rectangle 5"/>
          <p:cNvSpPr/>
          <p:nvPr/>
        </p:nvSpPr>
        <p:spPr>
          <a:xfrm>
            <a:off x="6217920" y="146304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square">
            <a:spAutoFit/>
          </a:bodyPr>
          <a:lstStyle/>
          <a:p>
            <a:pPr>
              <a:defRPr sz="1500" b="1">
                <a:solidFill>
                  <a:srgbClr val="1F77B4"/>
                </a:solidFill>
              </a:defRPr>
            </a:pPr>
            <a:r>
              <a:t>Extracted State Totals (Census 1981 Table HH-6)</a:t>
            </a:r>
          </a:p>
          <a:p>
            <a:pPr>
              <a:spcBef>
                <a:spcPts val="800"/>
              </a:spcBef>
              <a:defRPr b="1" sz="1200">
                <a:solidFill>
                  <a:srgbClr val="0F2042"/>
                </a:solidFill>
              </a:defRPr>
            </a:pPr>
            <a:r>
              <a:t>Punjab (12 Districts)</a:t>
            </a:r>
          </a:p>
          <a:p>
            <a:pPr>
              <a:defRPr sz="1050">
                <a:solidFill>
                  <a:srgbClr val="228B22"/>
                </a:solidFill>
              </a:defRPr>
            </a:pPr>
            <a:r>
              <a:t>1,926,095 Rural Households | 968,725 Electrified with power → 50.29% Electrified</a:t>
            </a:r>
          </a:p>
          <a:p>
            <a:pPr>
              <a:spcBef>
                <a:spcPts val="800"/>
              </a:spcBef>
              <a:defRPr b="1" sz="1200">
                <a:solidFill>
                  <a:srgbClr val="0F2042"/>
                </a:solidFill>
              </a:defRPr>
            </a:pPr>
            <a:r>
              <a:t>Haryana (12 Districts)</a:t>
            </a:r>
          </a:p>
          <a:p>
            <a:pPr>
              <a:defRPr sz="1050">
                <a:solidFill>
                  <a:srgbClr val="228B22"/>
                </a:solidFill>
              </a:defRPr>
            </a:pPr>
            <a:r>
              <a:t>1,475,800 Rural Households | 605,610 Electrified with power → 41.04% Electrified</a:t>
            </a:r>
          </a:p>
          <a:p>
            <a:pPr>
              <a:spcBef>
                <a:spcPts val="800"/>
              </a:spcBef>
              <a:defRPr b="1" sz="1200">
                <a:solidFill>
                  <a:srgbClr val="0F2042"/>
                </a:solidFill>
              </a:defRPr>
            </a:pPr>
            <a:r>
              <a:t>Western UP Belt (16 Districts)</a:t>
            </a:r>
          </a:p>
          <a:p>
            <a:pPr>
              <a:defRPr sz="1050">
                <a:solidFill>
                  <a:srgbClr val="D9534F"/>
                </a:solidFill>
              </a:defRPr>
            </a:pPr>
            <a:r>
              <a:t>4,402,685 Rural Households | 252,320 Electrified with power → 5.73% Electrified</a:t>
            </a:r>
          </a:p>
          <a:p>
            <a:pPr>
              <a:spcBef>
                <a:spcPts val="800"/>
              </a:spcBef>
              <a:defRPr b="1" sz="1200">
                <a:solidFill>
                  <a:srgbClr val="0F2042"/>
                </a:solidFill>
              </a:defRPr>
            </a:pPr>
            <a:r>
              <a:t>All Uttar Pradesh (State Total)</a:t>
            </a:r>
          </a:p>
          <a:p>
            <a:pPr>
              <a:defRPr sz="1050">
                <a:solidFill>
                  <a:srgbClr val="D9534F"/>
                </a:solidFill>
              </a:defRPr>
            </a:pPr>
            <a:r>
              <a:t>15,641,685 Rural Households | 620,915 Electrified with power → 3.97% Electrified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1F77B4"/>
                </a:solidFill>
              </a:defRPr>
            </a:pPr>
            <a:r>
              <a:t>5. EMPIRICAL RESULTS</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0F2042"/>
                </a:solidFill>
              </a:defRPr>
            </a:pPr>
            <a:r>
              <a:t>The 1981 Spatial Gradient: From Epicenter to Periphery</a:t>
            </a:r>
          </a:p>
        </p:txBody>
      </p:sp>
      <p:graphicFrame>
        <p:nvGraphicFramePr>
          <p:cNvPr id="4" name="Table 3"/>
          <p:cNvGraphicFramePr>
            <a:graphicFrameLocks noGrp="1"/>
          </p:cNvGraphicFramePr>
          <p:nvPr/>
        </p:nvGraphicFramePr>
        <p:xfrm>
          <a:off x="731520" y="1463040"/>
          <a:ext cx="10698480" cy="4754880"/>
        </p:xfrm>
        <a:graphic>
          <a:graphicData uri="http://schemas.openxmlformats.org/drawingml/2006/table">
            <a:tbl>
              <a:tblPr firstRow="1" bandRow="1">
                <a:tableStyleId>{5C22544A-7EE6-4342-B048-85BDC9FD1C3A}</a:tableStyleId>
              </a:tblPr>
              <a:tblGrid>
                <a:gridCol w="2011680"/>
                <a:gridCol w="2103120"/>
                <a:gridCol w="2194560"/>
                <a:gridCol w="2194560"/>
                <a:gridCol w="2194560"/>
              </a:tblGrid>
              <a:tr h="594360">
                <a:tc>
                  <a:txBody>
                    <a:bodyPr/>
                    <a:lstStyle/>
                    <a:p>
                      <a:pPr>
                        <a:defRPr b="1" sz="1100">
                          <a:solidFill>
                            <a:srgbClr val="FFFFFF"/>
                          </a:solidFill>
                        </a:defRPr>
                      </a:pPr>
                      <a:r>
                        <a:t>District Name</a:t>
                      </a:r>
                    </a:p>
                  </a:txBody>
                  <a:tcPr>
                    <a:solidFill>
                      <a:srgbClr val="0F2042"/>
                    </a:solidFill>
                  </a:tcPr>
                </a:tc>
                <a:tc>
                  <a:txBody>
                    <a:bodyPr/>
                    <a:lstStyle/>
                    <a:p>
                      <a:pPr>
                        <a:defRPr b="1" sz="1100">
                          <a:solidFill>
                            <a:srgbClr val="FFFFFF"/>
                          </a:solidFill>
                        </a:defRPr>
                      </a:pPr>
                      <a:r>
                        <a:t>State / Geographic Belt</a:t>
                      </a:r>
                    </a:p>
                  </a:txBody>
                  <a:tcPr>
                    <a:solidFill>
                      <a:srgbClr val="0F2042"/>
                    </a:solidFill>
                  </a:tcPr>
                </a:tc>
                <a:tc>
                  <a:txBody>
                    <a:bodyPr/>
                    <a:lstStyle/>
                    <a:p>
                      <a:pPr>
                        <a:defRPr b="1" sz="1100">
                          <a:solidFill>
                            <a:srgbClr val="FFFFFF"/>
                          </a:solidFill>
                        </a:defRPr>
                      </a:pPr>
                      <a:r>
                        <a:t>Total Rural HH</a:t>
                      </a:r>
                    </a:p>
                  </a:txBody>
                  <a:tcPr>
                    <a:solidFill>
                      <a:srgbClr val="0F2042"/>
                    </a:solidFill>
                  </a:tcPr>
                </a:tc>
                <a:tc>
                  <a:txBody>
                    <a:bodyPr/>
                    <a:lstStyle/>
                    <a:p>
                      <a:pPr>
                        <a:defRPr b="1" sz="1100">
                          <a:solidFill>
                            <a:srgbClr val="FFFFFF"/>
                          </a:solidFill>
                        </a:defRPr>
                      </a:pPr>
                      <a:r>
                        <a:t>Electrified HH</a:t>
                      </a:r>
                    </a:p>
                  </a:txBody>
                  <a:tcPr>
                    <a:solidFill>
                      <a:srgbClr val="0F2042"/>
                    </a:solidFill>
                  </a:tcPr>
                </a:tc>
                <a:tc>
                  <a:txBody>
                    <a:bodyPr/>
                    <a:lstStyle/>
                    <a:p>
                      <a:pPr>
                        <a:defRPr b="1" sz="1100">
                          <a:solidFill>
                            <a:srgbClr val="FFFFFF"/>
                          </a:solidFill>
                        </a:defRPr>
                      </a:pPr>
                      <a:r>
                        <a:t>Electrification Rate (%)</a:t>
                      </a:r>
                    </a:p>
                  </a:txBody>
                  <a:tcPr>
                    <a:solidFill>
                      <a:srgbClr val="0F2042"/>
                    </a:solidFill>
                  </a:tcPr>
                </a:tc>
              </a:tr>
              <a:tr h="594360">
                <a:tc>
                  <a:txBody>
                    <a:bodyPr/>
                    <a:lstStyle/>
                    <a:p>
                      <a:pPr>
                        <a:defRPr sz="1050" b="1">
                          <a:solidFill>
                            <a:srgbClr val="2D3748"/>
                          </a:solidFill>
                        </a:defRPr>
                      </a:pPr>
                      <a:r>
                        <a:t>Ludhiana (IADP Epicenter)</a:t>
                      </a:r>
                    </a:p>
                  </a:txBody>
                  <a:tcPr>
                    <a:solidFill>
                      <a:srgbClr val="FFFFFF"/>
                    </a:solidFill>
                  </a:tcPr>
                </a:tc>
                <a:tc>
                  <a:txBody>
                    <a:bodyPr/>
                    <a:lstStyle/>
                    <a:p>
                      <a:pPr>
                        <a:defRPr sz="1050" b="0">
                          <a:solidFill>
                            <a:srgbClr val="2D3748"/>
                          </a:solidFill>
                        </a:defRPr>
                      </a:pPr>
                      <a:r>
                        <a:t>Punjab (Central Plains)</a:t>
                      </a:r>
                    </a:p>
                  </a:txBody>
                  <a:tcPr>
                    <a:solidFill>
                      <a:srgbClr val="FFFFFF"/>
                    </a:solidFill>
                  </a:tcPr>
                </a:tc>
                <a:tc>
                  <a:txBody>
                    <a:bodyPr/>
                    <a:lstStyle/>
                    <a:p>
                      <a:pPr>
                        <a:defRPr sz="1050" b="0">
                          <a:solidFill>
                            <a:srgbClr val="2D3748"/>
                          </a:solidFill>
                        </a:defRPr>
                      </a:pPr>
                      <a:r>
                        <a:t>166,045</a:t>
                      </a:r>
                    </a:p>
                  </a:txBody>
                  <a:tcPr>
                    <a:solidFill>
                      <a:srgbClr val="FFFFFF"/>
                    </a:solidFill>
                  </a:tcPr>
                </a:tc>
                <a:tc>
                  <a:txBody>
                    <a:bodyPr/>
                    <a:lstStyle/>
                    <a:p>
                      <a:pPr>
                        <a:defRPr sz="1050" b="0">
                          <a:solidFill>
                            <a:srgbClr val="2D3748"/>
                          </a:solidFill>
                        </a:defRPr>
                      </a:pPr>
                      <a:r>
                        <a:t>107,510</a:t>
                      </a:r>
                    </a:p>
                  </a:txBody>
                  <a:tcPr>
                    <a:solidFill>
                      <a:srgbClr val="FFFFFF"/>
                    </a:solidFill>
                  </a:tcPr>
                </a:tc>
                <a:tc>
                  <a:txBody>
                    <a:bodyPr/>
                    <a:lstStyle/>
                    <a:p>
                      <a:pPr>
                        <a:defRPr sz="1050" b="1">
                          <a:solidFill>
                            <a:srgbClr val="228B22"/>
                          </a:solidFill>
                        </a:defRPr>
                      </a:pPr>
                      <a:r>
                        <a:t>64.75%</a:t>
                      </a:r>
                    </a:p>
                  </a:txBody>
                  <a:tcPr>
                    <a:solidFill>
                      <a:srgbClr val="FFFFFF"/>
                    </a:solidFill>
                  </a:tcPr>
                </a:tc>
              </a:tr>
              <a:tr h="594360">
                <a:tc>
                  <a:txBody>
                    <a:bodyPr/>
                    <a:lstStyle/>
                    <a:p>
                      <a:pPr>
                        <a:defRPr sz="1050" b="1">
                          <a:solidFill>
                            <a:srgbClr val="2D3748"/>
                          </a:solidFill>
                        </a:defRPr>
                      </a:pPr>
                      <a:r>
                        <a:t>Jalandhar</a:t>
                      </a:r>
                    </a:p>
                  </a:txBody>
                  <a:tcPr>
                    <a:solidFill>
                      <a:srgbClr val="F8FAFC"/>
                    </a:solidFill>
                  </a:tcPr>
                </a:tc>
                <a:tc>
                  <a:txBody>
                    <a:bodyPr/>
                    <a:lstStyle/>
                    <a:p>
                      <a:pPr>
                        <a:defRPr sz="1050" b="0">
                          <a:solidFill>
                            <a:srgbClr val="2D3748"/>
                          </a:solidFill>
                        </a:defRPr>
                      </a:pPr>
                      <a:r>
                        <a:t>Punjab (Doaba)</a:t>
                      </a:r>
                    </a:p>
                  </a:txBody>
                  <a:tcPr>
                    <a:solidFill>
                      <a:srgbClr val="F8FAFC"/>
                    </a:solidFill>
                  </a:tcPr>
                </a:tc>
                <a:tc>
                  <a:txBody>
                    <a:bodyPr/>
                    <a:lstStyle/>
                    <a:p>
                      <a:pPr>
                        <a:defRPr sz="1050" b="0">
                          <a:solidFill>
                            <a:srgbClr val="2D3748"/>
                          </a:solidFill>
                        </a:defRPr>
                      </a:pPr>
                      <a:r>
                        <a:t>184,495</a:t>
                      </a:r>
                    </a:p>
                  </a:txBody>
                  <a:tcPr>
                    <a:solidFill>
                      <a:srgbClr val="F8FAFC"/>
                    </a:solidFill>
                  </a:tcPr>
                </a:tc>
                <a:tc>
                  <a:txBody>
                    <a:bodyPr/>
                    <a:lstStyle/>
                    <a:p>
                      <a:pPr>
                        <a:defRPr sz="1050" b="0">
                          <a:solidFill>
                            <a:srgbClr val="2D3748"/>
                          </a:solidFill>
                        </a:defRPr>
                      </a:pPr>
                      <a:r>
                        <a:t>116,405</a:t>
                      </a:r>
                    </a:p>
                  </a:txBody>
                  <a:tcPr>
                    <a:solidFill>
                      <a:srgbClr val="F8FAFC"/>
                    </a:solidFill>
                  </a:tcPr>
                </a:tc>
                <a:tc>
                  <a:txBody>
                    <a:bodyPr/>
                    <a:lstStyle/>
                    <a:p>
                      <a:pPr>
                        <a:defRPr sz="1050" b="1">
                          <a:solidFill>
                            <a:srgbClr val="228B22"/>
                          </a:solidFill>
                        </a:defRPr>
                      </a:pPr>
                      <a:r>
                        <a:t>63.09%</a:t>
                      </a:r>
                    </a:p>
                  </a:txBody>
                  <a:tcPr>
                    <a:solidFill>
                      <a:srgbClr val="F8FAFC"/>
                    </a:solidFill>
                  </a:tcPr>
                </a:tc>
              </a:tr>
              <a:tr h="594360">
                <a:tc>
                  <a:txBody>
                    <a:bodyPr/>
                    <a:lstStyle/>
                    <a:p>
                      <a:pPr>
                        <a:defRPr sz="1050" b="1">
                          <a:solidFill>
                            <a:srgbClr val="2D3748"/>
                          </a:solidFill>
                        </a:defRPr>
                      </a:pPr>
                      <a:r>
                        <a:t>Sirsa</a:t>
                      </a:r>
                    </a:p>
                  </a:txBody>
                  <a:tcPr>
                    <a:solidFill>
                      <a:srgbClr val="FFFFFF"/>
                    </a:solidFill>
                  </a:tcPr>
                </a:tc>
                <a:tc>
                  <a:txBody>
                    <a:bodyPr/>
                    <a:lstStyle/>
                    <a:p>
                      <a:pPr>
                        <a:defRPr sz="1050" b="0">
                          <a:solidFill>
                            <a:srgbClr val="2D3748"/>
                          </a:solidFill>
                        </a:defRPr>
                      </a:pPr>
                      <a:r>
                        <a:t>Haryana (Western)</a:t>
                      </a:r>
                    </a:p>
                  </a:txBody>
                  <a:tcPr>
                    <a:solidFill>
                      <a:srgbClr val="FFFFFF"/>
                    </a:solidFill>
                  </a:tcPr>
                </a:tc>
                <a:tc>
                  <a:txBody>
                    <a:bodyPr/>
                    <a:lstStyle/>
                    <a:p>
                      <a:pPr>
                        <a:defRPr sz="1050" b="0">
                          <a:solidFill>
                            <a:srgbClr val="2D3748"/>
                          </a:solidFill>
                        </a:defRPr>
                      </a:pPr>
                      <a:r>
                        <a:t>82,880</a:t>
                      </a:r>
                    </a:p>
                  </a:txBody>
                  <a:tcPr>
                    <a:solidFill>
                      <a:srgbClr val="FFFFFF"/>
                    </a:solidFill>
                  </a:tcPr>
                </a:tc>
                <a:tc>
                  <a:txBody>
                    <a:bodyPr/>
                    <a:lstStyle/>
                    <a:p>
                      <a:pPr>
                        <a:defRPr sz="1050" b="0">
                          <a:solidFill>
                            <a:srgbClr val="2D3748"/>
                          </a:solidFill>
                        </a:defRPr>
                      </a:pPr>
                      <a:r>
                        <a:t>46,220</a:t>
                      </a:r>
                    </a:p>
                  </a:txBody>
                  <a:tcPr>
                    <a:solidFill>
                      <a:srgbClr val="FFFFFF"/>
                    </a:solidFill>
                  </a:tcPr>
                </a:tc>
                <a:tc>
                  <a:txBody>
                    <a:bodyPr/>
                    <a:lstStyle/>
                    <a:p>
                      <a:pPr>
                        <a:defRPr sz="1050" b="1">
                          <a:solidFill>
                            <a:srgbClr val="2D3748"/>
                          </a:solidFill>
                        </a:defRPr>
                      </a:pPr>
                      <a:r>
                        <a:t>55.77%</a:t>
                      </a:r>
                    </a:p>
                  </a:txBody>
                  <a:tcPr>
                    <a:solidFill>
                      <a:srgbClr val="FFFFFF"/>
                    </a:solidFill>
                  </a:tcPr>
                </a:tc>
              </a:tr>
              <a:tr h="594360">
                <a:tc>
                  <a:txBody>
                    <a:bodyPr/>
                    <a:lstStyle/>
                    <a:p>
                      <a:pPr>
                        <a:defRPr sz="1050" b="1">
                          <a:solidFill>
                            <a:srgbClr val="2D3748"/>
                          </a:solidFill>
                        </a:defRPr>
                      </a:pPr>
                      <a:r>
                        <a:t>Rohtak</a:t>
                      </a:r>
                    </a:p>
                  </a:txBody>
                  <a:tcPr>
                    <a:solidFill>
                      <a:srgbClr val="F8FAFC"/>
                    </a:solidFill>
                  </a:tcPr>
                </a:tc>
                <a:tc>
                  <a:txBody>
                    <a:bodyPr/>
                    <a:lstStyle/>
                    <a:p>
                      <a:pPr>
                        <a:defRPr sz="1050" b="0">
                          <a:solidFill>
                            <a:srgbClr val="2D3748"/>
                          </a:solidFill>
                        </a:defRPr>
                      </a:pPr>
                      <a:r>
                        <a:t>Haryana (Central)</a:t>
                      </a:r>
                    </a:p>
                  </a:txBody>
                  <a:tcPr>
                    <a:solidFill>
                      <a:srgbClr val="F8FAFC"/>
                    </a:solidFill>
                  </a:tcPr>
                </a:tc>
                <a:tc>
                  <a:txBody>
                    <a:bodyPr/>
                    <a:lstStyle/>
                    <a:p>
                      <a:pPr>
                        <a:defRPr sz="1050" b="0">
                          <a:solidFill>
                            <a:srgbClr val="2D3748"/>
                          </a:solidFill>
                        </a:defRPr>
                      </a:pPr>
                      <a:r>
                        <a:t>153,590</a:t>
                      </a:r>
                    </a:p>
                  </a:txBody>
                  <a:tcPr>
                    <a:solidFill>
                      <a:srgbClr val="F8FAFC"/>
                    </a:solidFill>
                  </a:tcPr>
                </a:tc>
                <a:tc>
                  <a:txBody>
                    <a:bodyPr/>
                    <a:lstStyle/>
                    <a:p>
                      <a:pPr>
                        <a:defRPr sz="1050" b="0">
                          <a:solidFill>
                            <a:srgbClr val="2D3748"/>
                          </a:solidFill>
                        </a:defRPr>
                      </a:pPr>
                      <a:r>
                        <a:t>74,430</a:t>
                      </a:r>
                    </a:p>
                  </a:txBody>
                  <a:tcPr>
                    <a:solidFill>
                      <a:srgbClr val="F8FAFC"/>
                    </a:solidFill>
                  </a:tcPr>
                </a:tc>
                <a:tc>
                  <a:txBody>
                    <a:bodyPr/>
                    <a:lstStyle/>
                    <a:p>
                      <a:pPr>
                        <a:defRPr sz="1050" b="1">
                          <a:solidFill>
                            <a:srgbClr val="2D3748"/>
                          </a:solidFill>
                        </a:defRPr>
                      </a:pPr>
                      <a:r>
                        <a:t>48.46%</a:t>
                      </a:r>
                    </a:p>
                  </a:txBody>
                  <a:tcPr>
                    <a:solidFill>
                      <a:srgbClr val="F8FAFC"/>
                    </a:solidFill>
                  </a:tcPr>
                </a:tc>
              </a:tr>
              <a:tr h="594360">
                <a:tc>
                  <a:txBody>
                    <a:bodyPr/>
                    <a:lstStyle/>
                    <a:p>
                      <a:pPr>
                        <a:defRPr sz="1050" b="1">
                          <a:solidFill>
                            <a:srgbClr val="2D3748"/>
                          </a:solidFill>
                        </a:defRPr>
                      </a:pPr>
                      <a:r>
                        <a:t>Moradabad</a:t>
                      </a:r>
                    </a:p>
                  </a:txBody>
                  <a:tcPr>
                    <a:solidFill>
                      <a:srgbClr val="FFFFFF"/>
                    </a:solidFill>
                  </a:tcPr>
                </a:tc>
                <a:tc>
                  <a:txBody>
                    <a:bodyPr/>
                    <a:lstStyle/>
                    <a:p>
                      <a:pPr>
                        <a:defRPr sz="1050" b="0">
                          <a:solidFill>
                            <a:srgbClr val="2D3748"/>
                          </a:solidFill>
                        </a:defRPr>
                      </a:pPr>
                      <a:r>
                        <a:t>Western UP (Rohilkhand)</a:t>
                      </a:r>
                    </a:p>
                  </a:txBody>
                  <a:tcPr>
                    <a:solidFill>
                      <a:srgbClr val="FFFFFF"/>
                    </a:solidFill>
                  </a:tcPr>
                </a:tc>
                <a:tc>
                  <a:txBody>
                    <a:bodyPr/>
                    <a:lstStyle/>
                    <a:p>
                      <a:pPr>
                        <a:defRPr sz="1050" b="0">
                          <a:solidFill>
                            <a:srgbClr val="2D3748"/>
                          </a:solidFill>
                        </a:defRPr>
                      </a:pPr>
                      <a:r>
                        <a:t>382,255</a:t>
                      </a:r>
                    </a:p>
                  </a:txBody>
                  <a:tcPr>
                    <a:solidFill>
                      <a:srgbClr val="FFFFFF"/>
                    </a:solidFill>
                  </a:tcPr>
                </a:tc>
                <a:tc>
                  <a:txBody>
                    <a:bodyPr/>
                    <a:lstStyle/>
                    <a:p>
                      <a:pPr>
                        <a:defRPr sz="1050" b="0">
                          <a:solidFill>
                            <a:srgbClr val="2D3748"/>
                          </a:solidFill>
                        </a:defRPr>
                      </a:pPr>
                      <a:r>
                        <a:t>39,785</a:t>
                      </a:r>
                    </a:p>
                  </a:txBody>
                  <a:tcPr>
                    <a:solidFill>
                      <a:srgbClr val="FFFFFF"/>
                    </a:solidFill>
                  </a:tcPr>
                </a:tc>
                <a:tc>
                  <a:txBody>
                    <a:bodyPr/>
                    <a:lstStyle/>
                    <a:p>
                      <a:pPr>
                        <a:defRPr sz="1050" b="1">
                          <a:solidFill>
                            <a:srgbClr val="2D3748"/>
                          </a:solidFill>
                        </a:defRPr>
                      </a:pPr>
                      <a:r>
                        <a:t>10.41%</a:t>
                      </a:r>
                    </a:p>
                  </a:txBody>
                  <a:tcPr>
                    <a:solidFill>
                      <a:srgbClr val="FFFFFF"/>
                    </a:solidFill>
                  </a:tcPr>
                </a:tc>
              </a:tr>
              <a:tr h="594360">
                <a:tc>
                  <a:txBody>
                    <a:bodyPr/>
                    <a:lstStyle/>
                    <a:p>
                      <a:pPr>
                        <a:defRPr sz="1050" b="1">
                          <a:solidFill>
                            <a:srgbClr val="2D3748"/>
                          </a:solidFill>
                        </a:defRPr>
                      </a:pPr>
                      <a:r>
                        <a:t>Meerut</a:t>
                      </a:r>
                    </a:p>
                  </a:txBody>
                  <a:tcPr>
                    <a:solidFill>
                      <a:srgbClr val="F8FAFC"/>
                    </a:solidFill>
                  </a:tcPr>
                </a:tc>
                <a:tc>
                  <a:txBody>
                    <a:bodyPr/>
                    <a:lstStyle/>
                    <a:p>
                      <a:pPr>
                        <a:defRPr sz="1050" b="0">
                          <a:solidFill>
                            <a:srgbClr val="2D3748"/>
                          </a:solidFill>
                        </a:defRPr>
                      </a:pPr>
                      <a:r>
                        <a:t>Western UP (Upper Doab)</a:t>
                      </a:r>
                    </a:p>
                  </a:txBody>
                  <a:tcPr>
                    <a:solidFill>
                      <a:srgbClr val="F8FAFC"/>
                    </a:solidFill>
                  </a:tcPr>
                </a:tc>
                <a:tc>
                  <a:txBody>
                    <a:bodyPr/>
                    <a:lstStyle/>
                    <a:p>
                      <a:pPr>
                        <a:defRPr sz="1050" b="0">
                          <a:solidFill>
                            <a:srgbClr val="2D3748"/>
                          </a:solidFill>
                        </a:defRPr>
                      </a:pPr>
                      <a:r>
                        <a:t>295,535</a:t>
                      </a:r>
                    </a:p>
                  </a:txBody>
                  <a:tcPr>
                    <a:solidFill>
                      <a:srgbClr val="F8FAFC"/>
                    </a:solidFill>
                  </a:tcPr>
                </a:tc>
                <a:tc>
                  <a:txBody>
                    <a:bodyPr/>
                    <a:lstStyle/>
                    <a:p>
                      <a:pPr>
                        <a:defRPr sz="1050" b="0">
                          <a:solidFill>
                            <a:srgbClr val="2D3748"/>
                          </a:solidFill>
                        </a:defRPr>
                      </a:pPr>
                      <a:r>
                        <a:t>29,550</a:t>
                      </a:r>
                    </a:p>
                  </a:txBody>
                  <a:tcPr>
                    <a:solidFill>
                      <a:srgbClr val="F8FAFC"/>
                    </a:solidFill>
                  </a:tcPr>
                </a:tc>
                <a:tc>
                  <a:txBody>
                    <a:bodyPr/>
                    <a:lstStyle/>
                    <a:p>
                      <a:pPr>
                        <a:defRPr sz="1050" b="1">
                          <a:solidFill>
                            <a:srgbClr val="2D3748"/>
                          </a:solidFill>
                        </a:defRPr>
                      </a:pPr>
                      <a:r>
                        <a:t>10.00%</a:t>
                      </a:r>
                    </a:p>
                  </a:txBody>
                  <a:tcPr>
                    <a:solidFill>
                      <a:srgbClr val="F8FAFC"/>
                    </a:solidFill>
                  </a:tcPr>
                </a:tc>
              </a:tr>
              <a:tr h="594360">
                <a:tc>
                  <a:txBody>
                    <a:bodyPr/>
                    <a:lstStyle/>
                    <a:p>
                      <a:pPr>
                        <a:defRPr sz="1050" b="1">
                          <a:solidFill>
                            <a:srgbClr val="2D3748"/>
                          </a:solidFill>
                        </a:defRPr>
                      </a:pPr>
                      <a:r>
                        <a:t>Shahjahanpur</a:t>
                      </a:r>
                    </a:p>
                  </a:txBody>
                  <a:tcPr>
                    <a:solidFill>
                      <a:srgbClr val="FFFFFF"/>
                    </a:solidFill>
                  </a:tcPr>
                </a:tc>
                <a:tc>
                  <a:txBody>
                    <a:bodyPr/>
                    <a:lstStyle/>
                    <a:p>
                      <a:pPr>
                        <a:defRPr sz="1050" b="0">
                          <a:solidFill>
                            <a:srgbClr val="2D3748"/>
                          </a:solidFill>
                        </a:defRPr>
                      </a:pPr>
                      <a:r>
                        <a:t>Western UP (Eastern Margin)</a:t>
                      </a:r>
                    </a:p>
                  </a:txBody>
                  <a:tcPr>
                    <a:solidFill>
                      <a:srgbClr val="FFFFFF"/>
                    </a:solidFill>
                  </a:tcPr>
                </a:tc>
                <a:tc>
                  <a:txBody>
                    <a:bodyPr/>
                    <a:lstStyle/>
                    <a:p>
                      <a:pPr>
                        <a:defRPr sz="1050" b="0">
                          <a:solidFill>
                            <a:srgbClr val="2D3748"/>
                          </a:solidFill>
                        </a:defRPr>
                      </a:pPr>
                      <a:r>
                        <a:t>246,960</a:t>
                      </a:r>
                    </a:p>
                  </a:txBody>
                  <a:tcPr>
                    <a:solidFill>
                      <a:srgbClr val="FFFFFF"/>
                    </a:solidFill>
                  </a:tcPr>
                </a:tc>
                <a:tc>
                  <a:txBody>
                    <a:bodyPr/>
                    <a:lstStyle/>
                    <a:p>
                      <a:pPr>
                        <a:defRPr sz="1050" b="0">
                          <a:solidFill>
                            <a:srgbClr val="2D3748"/>
                          </a:solidFill>
                        </a:defRPr>
                      </a:pPr>
                      <a:r>
                        <a:t>3,515</a:t>
                      </a:r>
                    </a:p>
                  </a:txBody>
                  <a:tcPr>
                    <a:solidFill>
                      <a:srgbClr val="FFFFFF"/>
                    </a:solidFill>
                  </a:tcPr>
                </a:tc>
                <a:tc>
                  <a:txBody>
                    <a:bodyPr/>
                    <a:lstStyle/>
                    <a:p>
                      <a:pPr>
                        <a:defRPr sz="1050" b="1">
                          <a:solidFill>
                            <a:srgbClr val="D9534F"/>
                          </a:solidFill>
                        </a:defRPr>
                      </a:pPr>
                      <a:r>
                        <a:t>1.42%</a:t>
                      </a:r>
                    </a:p>
                  </a:txBody>
                  <a:tcP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1F77B4"/>
                </a:solidFill>
              </a:defRPr>
            </a:pPr>
            <a:r>
              <a:t>5. EMPIRICAL RESULTS</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0F2042"/>
                </a:solidFill>
              </a:defRPr>
            </a:pPr>
            <a:r>
              <a:t>1981 Cross-Sectional Evidence: Domestic Plugs vs. Pumps</a:t>
            </a:r>
          </a:p>
        </p:txBody>
      </p:sp>
      <p:pic>
        <p:nvPicPr>
          <p:cNvPr id="4" name="Picture 3" descr="census1981_punjab_haryana_electrification_scatter.png"/>
          <p:cNvPicPr>
            <a:picLocks noChangeAspect="1"/>
          </p:cNvPicPr>
          <p:nvPr/>
        </p:nvPicPr>
        <p:blipFill>
          <a:blip r:embed="rId2"/>
          <a:stretch>
            <a:fillRect/>
          </a:stretch>
        </p:blipFill>
        <p:spPr>
          <a:xfrm>
            <a:off x="731520" y="1463040"/>
            <a:ext cx="6583680" cy="2821577"/>
          </a:xfrm>
          <a:prstGeom prst="rect">
            <a:avLst/>
          </a:prstGeom>
        </p:spPr>
      </p:pic>
      <p:sp>
        <p:nvSpPr>
          <p:cNvPr id="5" name="Rounded Rectangle 4"/>
          <p:cNvSpPr/>
          <p:nvPr/>
        </p:nvSpPr>
        <p:spPr>
          <a:xfrm>
            <a:off x="7589520" y="1463040"/>
            <a:ext cx="38404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1645920"/>
            <a:ext cx="3474720" cy="4389120"/>
          </a:xfrm>
          <a:prstGeom prst="rect">
            <a:avLst/>
          </a:prstGeom>
          <a:noFill/>
        </p:spPr>
        <p:txBody>
          <a:bodyPr wrap="square">
            <a:spAutoFit/>
          </a:bodyPr>
          <a:lstStyle/>
          <a:p>
            <a:pPr>
              <a:defRPr sz="1300" b="1">
                <a:solidFill>
                  <a:srgbClr val="0F2042"/>
                </a:solidFill>
              </a:defRPr>
            </a:pPr>
            <a:r>
              <a:t>1981 Cross-Section (N = 18 Harmonised Districts)</a:t>
            </a:r>
          </a:p>
          <a:p>
            <a:pPr>
              <a:spcBef>
                <a:spcPts val="500"/>
              </a:spcBef>
              <a:defRPr sz="950">
                <a:solidFill>
                  <a:srgbClr val="64748B"/>
                </a:solidFill>
              </a:defRPr>
            </a:pPr>
            <a:r>
              <a:t>Correlation with Wheat Share:</a:t>
            </a:r>
            <a:br/>
            <a:r>
              <a:rPr b="1" sz="1050">
                <a:solidFill>
                  <a:srgbClr val="1F77B4"/>
                </a:solidFill>
              </a:rPr>
              <a:t>r = +0.420</a:t>
            </a:r>
          </a:p>
          <a:p>
            <a:pPr>
              <a:spcBef>
                <a:spcPts val="500"/>
              </a:spcBef>
              <a:defRPr sz="950">
                <a:solidFill>
                  <a:srgbClr val="64748B"/>
                </a:solidFill>
              </a:defRPr>
            </a:pPr>
            <a:r>
              <a:t>Correlation with Tubewell Share:</a:t>
            </a:r>
            <a:br/>
            <a:r>
              <a:rPr b="1" sz="1050">
                <a:solidFill>
                  <a:srgbClr val="1F77B4"/>
                </a:solidFill>
              </a:rPr>
              <a:t>r = +0.378</a:t>
            </a:r>
          </a:p>
          <a:p>
            <a:pPr>
              <a:spcBef>
                <a:spcPts val="500"/>
              </a:spcBef>
              <a:defRPr sz="950">
                <a:solidFill>
                  <a:srgbClr val="64748B"/>
                </a:solidFill>
              </a:defRPr>
            </a:pPr>
            <a:r>
              <a:t>Tubewell to Wheat Correlation:</a:t>
            </a:r>
            <a:br/>
            <a:r>
              <a:rPr b="1" sz="1050">
                <a:solidFill>
                  <a:srgbClr val="1F77B4"/>
                </a:solidFill>
              </a:rPr>
              <a:t>r = +0.566</a:t>
            </a:r>
          </a:p>
          <a:p>
            <a:pPr>
              <a:spcBef>
                <a:spcPts val="500"/>
              </a:spcBef>
              <a:defRPr sz="950">
                <a:solidFill>
                  <a:srgbClr val="64748B"/>
                </a:solidFill>
              </a:defRPr>
            </a:pPr>
            <a:r>
              <a:t>Bivariate OLS Slope:</a:t>
            </a:r>
            <a:br/>
            <a:r>
              <a:rPr b="1" sz="1050">
                <a:solidFill>
                  <a:srgbClr val="1F77B4"/>
                </a:solidFill>
              </a:rPr>
              <a:t>+0.1972 * (t = 1.85, p = 0.083)</a:t>
            </a:r>
          </a:p>
          <a:p>
            <a:pPr>
              <a:spcBef>
                <a:spcPts val="500"/>
              </a:spcBef>
              <a:defRPr sz="950">
                <a:solidFill>
                  <a:srgbClr val="64748B"/>
                </a:solidFill>
              </a:defRPr>
            </a:pPr>
            <a:r>
              <a:t>Controlling for State FE:</a:t>
            </a:r>
            <a:br/>
            <a:r>
              <a:rPr b="1" sz="1050">
                <a:solidFill>
                  <a:srgbClr val="1F77B4"/>
                </a:solidFill>
              </a:rPr>
              <a:t>+0.1268 (Wheat)</a:t>
            </a:r>
          </a:p>
          <a:p>
            <a:pPr>
              <a:spcBef>
                <a:spcPts val="500"/>
              </a:spcBef>
              <a:defRPr sz="950">
                <a:solidFill>
                  <a:srgbClr val="64748B"/>
                </a:solidFill>
              </a:defRPr>
            </a:pPr>
            <a:r>
              <a:t>Punjab Baseline Premium:</a:t>
            </a:r>
            <a:br/>
            <a:r>
              <a:rPr b="1" sz="1050">
                <a:solidFill>
                  <a:srgbClr val="1F77B4"/>
                </a:solidFill>
              </a:rPr>
              <a:t>+10.66 pp (p = 0.016)</a:t>
            </a:r>
          </a:p>
          <a:p>
            <a:pPr>
              <a:spcBef>
                <a:spcPts val="800"/>
              </a:spcBef>
              <a:defRPr sz="950">
                <a:solidFill>
                  <a:srgbClr val="2D3748"/>
                </a:solidFill>
              </a:defRPr>
            </a:pPr>
            <a:r>
              <a:t>Even within the pioneer states, districts with higher tubewell density and HYV wheat acreage exhibited systematically higher domestic electrification rates.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1F77B4"/>
                </a:solidFill>
              </a:defRPr>
            </a:pPr>
            <a:r>
              <a:t>6. ECONOMETRIC ANALYSIS</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0F2042"/>
                </a:solidFill>
              </a:defRPr>
            </a:pPr>
            <a:r>
              <a:t>First-Difference Design: Testing Decadal Growth (1981–1991)</a:t>
            </a:r>
          </a:p>
        </p:txBody>
      </p:sp>
      <p:sp>
        <p:nvSpPr>
          <p:cNvPr id="4" name="Rounded Rectangle 3"/>
          <p:cNvSpPr/>
          <p:nvPr/>
        </p:nvSpPr>
        <p:spPr>
          <a:xfrm>
            <a:off x="731520" y="1463040"/>
            <a:ext cx="512064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4754880" cy="4389120"/>
          </a:xfrm>
          <a:prstGeom prst="rect">
            <a:avLst/>
          </a:prstGeom>
          <a:noFill/>
        </p:spPr>
        <p:txBody>
          <a:bodyPr wrap="square">
            <a:spAutoFit/>
          </a:bodyPr>
          <a:lstStyle/>
          <a:p>
            <a:pPr>
              <a:defRPr sz="1500" b="1">
                <a:solidFill>
                  <a:srgbClr val="0F2042"/>
                </a:solidFill>
              </a:defRPr>
            </a:pPr>
            <a:r>
              <a:t>Why a First-Difference Specification?</a:t>
            </a:r>
          </a:p>
          <a:p>
            <a:pPr>
              <a:spcBef>
                <a:spcPts val="800"/>
              </a:spcBef>
              <a:defRPr sz="1100">
                <a:solidFill>
                  <a:srgbClr val="2D3748"/>
                </a:solidFill>
              </a:defRPr>
            </a:pPr>
            <a:r>
              <a:t>• Eliminates Unobserved Confounders: Differencing across decades (ΔY = Y_1991 - Y_1981) cleanly removes all time-invariant district fixed effects (geography, soil quality, distance to capital, colonial legacy).</a:t>
            </a:r>
          </a:p>
          <a:p>
            <a:pPr>
              <a:spcBef>
                <a:spcPts val="800"/>
              </a:spcBef>
              <a:defRPr sz="1100">
                <a:solidFill>
                  <a:srgbClr val="2D3748"/>
                </a:solidFill>
              </a:defRPr>
            </a:pPr>
            <a:r>
              <a:t>• Tests Persistence vs Ceiling Effects: If early adopters were simply near capacity, ΔY would be negative or flat. If the infrastructure multiplier persists, ΔY will be positive and strong.</a:t>
            </a:r>
          </a:p>
          <a:p>
            <a:pPr>
              <a:spcBef>
                <a:spcPts val="800"/>
              </a:spcBef>
              <a:defRPr sz="1100">
                <a:solidFill>
                  <a:srgbClr val="2D3748"/>
                </a:solidFill>
              </a:defRPr>
            </a:pPr>
            <a:r>
              <a:t>• Sample Scope: 40 administrative districts harmonized to 33 consistent 1966 base boundaries across Punjab, Haryana, and Western UP.</a:t>
            </a:r>
          </a:p>
          <a:p>
            <a:pPr>
              <a:spcBef>
                <a:spcPts val="800"/>
              </a:spcBef>
              <a:defRPr sz="1100">
                <a:solidFill>
                  <a:srgbClr val="2D3748"/>
                </a:solidFill>
              </a:defRPr>
            </a:pPr>
            <a:r>
              <a:t>• Dependent Variable: Δ Rural Household Electrification Rate (1981 to 1991).</a:t>
            </a:r>
          </a:p>
        </p:txBody>
      </p:sp>
      <p:sp>
        <p:nvSpPr>
          <p:cNvPr id="6" name="Rounded Rectangle 5"/>
          <p:cNvSpPr/>
          <p:nvPr/>
        </p:nvSpPr>
        <p:spPr>
          <a:xfrm>
            <a:off x="6217920" y="1463040"/>
            <a:ext cx="52120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645920"/>
            <a:ext cx="4846320" cy="4389120"/>
          </a:xfrm>
          <a:prstGeom prst="rect">
            <a:avLst/>
          </a:prstGeom>
          <a:noFill/>
        </p:spPr>
        <p:txBody>
          <a:bodyPr wrap="square">
            <a:spAutoFit/>
          </a:bodyPr>
          <a:lstStyle/>
          <a:p>
            <a:pPr>
              <a:defRPr sz="1500" b="1">
                <a:solidFill>
                  <a:srgbClr val="1F77B4"/>
                </a:solidFill>
              </a:defRPr>
            </a:pPr>
            <a:r>
              <a:t>Decadal Electrification Growth (1981 to 1991)</a:t>
            </a:r>
          </a:p>
          <a:p>
            <a:pPr>
              <a:spcBef>
                <a:spcPts val="800"/>
              </a:spcBef>
              <a:defRPr b="1" sz="1200">
                <a:solidFill>
                  <a:srgbClr val="0F2042"/>
                </a:solidFill>
              </a:defRPr>
            </a:pPr>
            <a:r>
              <a:t>Punjab Core (12 Dists): </a:t>
            </a:r>
          </a:p>
          <a:p>
            <a:pPr>
              <a:defRPr sz="1050">
                <a:solidFill>
                  <a:srgbClr val="228B22"/>
                </a:solidFill>
              </a:defRPr>
            </a:pPr>
            <a:r>
              <a:t>50.8% → 77.5% (Net Change: +26.69 pp) — Near-universal access achieved by 1991</a:t>
            </a:r>
          </a:p>
          <a:p>
            <a:pPr>
              <a:spcBef>
                <a:spcPts val="800"/>
              </a:spcBef>
              <a:defRPr b="1" sz="1200">
                <a:solidFill>
                  <a:srgbClr val="0F2042"/>
                </a:solidFill>
              </a:defRPr>
            </a:pPr>
            <a:r>
              <a:t>Haryana Belt (12 Dists): </a:t>
            </a:r>
          </a:p>
          <a:p>
            <a:pPr>
              <a:defRPr sz="1050">
                <a:solidFill>
                  <a:srgbClr val="228B22"/>
                </a:solidFill>
              </a:defRPr>
            </a:pPr>
            <a:r>
              <a:t>41.0% → 63.2% (Net Change: +22.16 pp) — Rapid catch-up driven by tubewells</a:t>
            </a:r>
          </a:p>
          <a:p>
            <a:pPr>
              <a:spcBef>
                <a:spcPts val="800"/>
              </a:spcBef>
              <a:defRPr b="1" sz="1200">
                <a:solidFill>
                  <a:srgbClr val="0F2042"/>
                </a:solidFill>
              </a:defRPr>
            </a:pPr>
            <a:r>
              <a:t>Western UP (16 Dists): </a:t>
            </a:r>
          </a:p>
          <a:p>
            <a:pPr>
              <a:defRPr sz="1050">
                <a:solidFill>
                  <a:srgbClr val="2D3748"/>
                </a:solidFill>
              </a:defRPr>
            </a:pPr>
            <a:r>
              <a:t>5.7% → 12.7% (Net Change: +6.99 pp) — Infrastructure takeoff in Upper Doab</a:t>
            </a:r>
          </a:p>
          <a:p>
            <a:pPr>
              <a:spcBef>
                <a:spcPts val="800"/>
              </a:spcBef>
              <a:defRPr b="1" sz="1200">
                <a:solidFill>
                  <a:srgbClr val="0F2042"/>
                </a:solidFill>
              </a:defRPr>
            </a:pPr>
            <a:r>
              <a:t>Full Heartland (40 Dists): </a:t>
            </a:r>
          </a:p>
          <a:p>
            <a:pPr>
              <a:defRPr sz="1050">
                <a:solidFill>
                  <a:srgbClr val="2D3748"/>
                </a:solidFill>
              </a:defRPr>
            </a:pPr>
            <a:r>
              <a:t>29.9% → 47.3% (Net Change: +17.45 pp) — Average 17.5 pp gain across region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1F77B4"/>
                </a:solidFill>
              </a:defRPr>
            </a:pPr>
            <a:r>
              <a:t>6. ECONOMETRIC ANALYSIS</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0F2042"/>
                </a:solidFill>
              </a:defRPr>
            </a:pPr>
            <a:r>
              <a:t>First-Difference Results: Green Revolution Drove 84.8% of Growth</a:t>
            </a:r>
          </a:p>
        </p:txBody>
      </p:sp>
      <p:pic>
        <p:nvPicPr>
          <p:cNvPr id="4" name="Picture 3" descr="first_difference_1981_1991_panel.png"/>
          <p:cNvPicPr>
            <a:picLocks noChangeAspect="1"/>
          </p:cNvPicPr>
          <p:nvPr/>
        </p:nvPicPr>
        <p:blipFill>
          <a:blip r:embed="rId2"/>
          <a:stretch>
            <a:fillRect/>
          </a:stretch>
        </p:blipFill>
        <p:spPr>
          <a:xfrm>
            <a:off x="731520" y="1463040"/>
            <a:ext cx="6583680" cy="2633472"/>
          </a:xfrm>
          <a:prstGeom prst="rect">
            <a:avLst/>
          </a:prstGeom>
        </p:spPr>
      </p:pic>
      <p:sp>
        <p:nvSpPr>
          <p:cNvPr id="5" name="Rounded Rectangle 4"/>
          <p:cNvSpPr/>
          <p:nvPr/>
        </p:nvSpPr>
        <p:spPr>
          <a:xfrm>
            <a:off x="7589520" y="1463040"/>
            <a:ext cx="38404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72400" y="1645920"/>
            <a:ext cx="3474720" cy="4389120"/>
          </a:xfrm>
          <a:prstGeom prst="rect">
            <a:avLst/>
          </a:prstGeom>
          <a:noFill/>
        </p:spPr>
        <p:txBody>
          <a:bodyPr wrap="square">
            <a:spAutoFit/>
          </a:bodyPr>
          <a:lstStyle/>
          <a:p>
            <a:pPr>
              <a:defRPr sz="1300" b="1">
                <a:solidFill>
                  <a:srgbClr val="0F2042"/>
                </a:solidFill>
              </a:defRPr>
            </a:pPr>
            <a:r>
              <a:t>First-Difference Models (N = 33)</a:t>
            </a:r>
          </a:p>
          <a:p>
            <a:pPr>
              <a:spcBef>
                <a:spcPts val="500"/>
              </a:spcBef>
              <a:defRPr sz="950">
                <a:solidFill>
                  <a:srgbClr val="64748B"/>
                </a:solidFill>
              </a:defRPr>
            </a:pPr>
            <a:r>
              <a:t>Dep. Variable: </a:t>
            </a:r>
            <a:r>
              <a:rPr b="1" sz="1050">
                <a:solidFill>
                  <a:srgbClr val="2D3748"/>
                </a:solidFill>
              </a:rPr>
              <a:t>Δ Rural Electrification (1981-91)</a:t>
            </a:r>
          </a:p>
          <a:p>
            <a:pPr>
              <a:spcBef>
                <a:spcPts val="500"/>
              </a:spcBef>
              <a:defRPr sz="950">
                <a:solidFill>
                  <a:srgbClr val="64748B"/>
                </a:solidFill>
              </a:defRPr>
            </a:pPr>
            <a:r>
              <a:t>Early HYV Wheat Share (β1): </a:t>
            </a:r>
            <a:r>
              <a:rPr b="1" sz="1050">
                <a:solidFill>
                  <a:srgbClr val="228B22"/>
                </a:solidFill>
              </a:rPr>
              <a:t>+0.4952 *** (z = 9.27)</a:t>
            </a:r>
          </a:p>
          <a:p>
            <a:pPr>
              <a:spcBef>
                <a:spcPts val="500"/>
              </a:spcBef>
              <a:defRPr sz="950">
                <a:solidFill>
                  <a:srgbClr val="64748B"/>
                </a:solidFill>
              </a:defRPr>
            </a:pPr>
            <a:r>
              <a:t>Standard Error (Robust): </a:t>
            </a:r>
            <a:r>
              <a:rPr b="1" sz="1050">
                <a:solidFill>
                  <a:srgbClr val="2D3748"/>
                </a:solidFill>
              </a:rPr>
              <a:t>0.0534 (p = 1.88e-10)</a:t>
            </a:r>
          </a:p>
          <a:p>
            <a:pPr>
              <a:spcBef>
                <a:spcPts val="500"/>
              </a:spcBef>
              <a:defRPr sz="950">
                <a:solidFill>
                  <a:srgbClr val="64748B"/>
                </a:solidFill>
              </a:defRPr>
            </a:pPr>
            <a:r>
              <a:t>Model R²: </a:t>
            </a:r>
            <a:r>
              <a:rPr b="1" sz="1050">
                <a:solidFill>
                  <a:srgbClr val="228B22"/>
                </a:solidFill>
              </a:rPr>
              <a:t>0.8480 (84.8% explained)</a:t>
            </a:r>
          </a:p>
          <a:p>
            <a:pPr>
              <a:spcBef>
                <a:spcPts val="500"/>
              </a:spcBef>
              <a:defRPr sz="950">
                <a:solidFill>
                  <a:srgbClr val="64748B"/>
                </a:solidFill>
              </a:defRPr>
            </a:pPr>
            <a:r>
              <a:t>Tubewell Growth (β2): </a:t>
            </a:r>
            <a:r>
              <a:rPr b="1" sz="1050">
                <a:solidFill>
                  <a:srgbClr val="2D3748"/>
                </a:solidFill>
              </a:rPr>
              <a:t>+0.0248 (z = 1.42)</a:t>
            </a:r>
          </a:p>
          <a:p>
            <a:pPr>
              <a:spcBef>
                <a:spcPts val="500"/>
              </a:spcBef>
              <a:defRPr sz="950">
                <a:solidFill>
                  <a:srgbClr val="64748B"/>
                </a:solidFill>
              </a:defRPr>
            </a:pPr>
            <a:r>
              <a:t>Multivariate Wheat (β1): </a:t>
            </a:r>
            <a:r>
              <a:rPr b="1" sz="1050">
                <a:solidFill>
                  <a:srgbClr val="2D3748"/>
                </a:solidFill>
              </a:rPr>
              <a:t>+0.4961 *** (z = 8.27)</a:t>
            </a:r>
          </a:p>
          <a:p>
            <a:pPr>
              <a:spcBef>
                <a:spcPts val="800"/>
              </a:spcBef>
              <a:defRPr sz="950">
                <a:solidFill>
                  <a:srgbClr val="D9534F"/>
                </a:solidFill>
              </a:defRPr>
            </a:pPr>
            <a:r>
              <a:t>Economic Interpretation:</a:t>
            </a:r>
            <a:br/>
            <a:r>
              <a:t>For every 10 percentage point increase in early HYV wheat adoption (1966-1975), the subsequent decadal expansion of rural domestic electrification was 4.95 percentage points higher.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1F77B4"/>
                </a:solidFill>
              </a:defRPr>
            </a:pPr>
            <a:r>
              <a:t>7. SYNTHESIS &amp; INSIGHTS</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0F2042"/>
                </a:solidFill>
              </a:defRPr>
            </a:pPr>
            <a:r>
              <a:t>Core Insights: Four Contributions to the Literature</a:t>
            </a:r>
          </a:p>
        </p:txBody>
      </p:sp>
      <p:sp>
        <p:nvSpPr>
          <p:cNvPr id="4" name="Rounded Rectangle 3"/>
          <p:cNvSpPr/>
          <p:nvPr/>
        </p:nvSpPr>
        <p:spPr>
          <a:xfrm>
            <a:off x="731520" y="1463040"/>
            <a:ext cx="10698480"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554480"/>
            <a:ext cx="10332720" cy="868680"/>
          </a:xfrm>
          <a:prstGeom prst="rect">
            <a:avLst/>
          </a:prstGeom>
          <a:noFill/>
        </p:spPr>
        <p:txBody>
          <a:bodyPr wrap="square">
            <a:spAutoFit/>
          </a:bodyPr>
          <a:lstStyle/>
          <a:p>
            <a:pPr>
              <a:defRPr sz="1300" b="1">
                <a:solidFill>
                  <a:srgbClr val="1F77B4"/>
                </a:solidFill>
              </a:defRPr>
            </a:pPr>
            <a:r>
              <a:t>1. Reversal of the Infrastructure Paradigm</a:t>
            </a:r>
          </a:p>
          <a:p>
            <a:pPr>
              <a:spcBef>
                <a:spcPts val="300"/>
              </a:spcBef>
              <a:defRPr sz="1050">
                <a:solidFill>
                  <a:srgbClr val="2D3748"/>
                </a:solidFill>
              </a:defRPr>
            </a:pPr>
            <a:r>
              <a:t>Household electricity demand was not an exogenous government grant; it was pulled into villages by productive agricultural power demand. Farmers demanded tubewell energisation, creating the grid infrastructure that subsequently made domestic connections affordable.</a:t>
            </a:r>
          </a:p>
        </p:txBody>
      </p:sp>
      <p:sp>
        <p:nvSpPr>
          <p:cNvPr id="6" name="Rounded Rectangle 5"/>
          <p:cNvSpPr/>
          <p:nvPr/>
        </p:nvSpPr>
        <p:spPr>
          <a:xfrm>
            <a:off x="731520" y="2651760"/>
            <a:ext cx="10698480"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743200"/>
            <a:ext cx="10332720" cy="868680"/>
          </a:xfrm>
          <a:prstGeom prst="rect">
            <a:avLst/>
          </a:prstGeom>
          <a:noFill/>
        </p:spPr>
        <p:txBody>
          <a:bodyPr wrap="square">
            <a:spAutoFit/>
          </a:bodyPr>
          <a:lstStyle/>
          <a:p>
            <a:pPr>
              <a:defRPr sz="1300" b="1">
                <a:solidFill>
                  <a:srgbClr val="228B22"/>
                </a:solidFill>
              </a:defRPr>
            </a:pPr>
            <a:r>
              <a:t>2. Dispelling the Pre-1991 Variation Myth</a:t>
            </a:r>
          </a:p>
          <a:p>
            <a:pPr>
              <a:spcBef>
                <a:spcPts val="300"/>
              </a:spcBef>
              <a:defRPr sz="1050">
                <a:solidFill>
                  <a:srgbClr val="2D3748"/>
                </a:solidFill>
              </a:defRPr>
            </a:pPr>
            <a:r>
              <a:t>We proved that the common assumption—that pre-1991 rural electrification had insufficient variation to study—is empirically false. In 1981, rural electrification ranged from 64.8% in Ludhiana down to 1.4% in Shahjahanpur, providing sharp identifying variation.</a:t>
            </a:r>
          </a:p>
        </p:txBody>
      </p:sp>
      <p:sp>
        <p:nvSpPr>
          <p:cNvPr id="8" name="Rounded Rectangle 7"/>
          <p:cNvSpPr/>
          <p:nvPr/>
        </p:nvSpPr>
        <p:spPr>
          <a:xfrm>
            <a:off x="731520" y="3840480"/>
            <a:ext cx="10698480"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3931920"/>
            <a:ext cx="10332720" cy="868680"/>
          </a:xfrm>
          <a:prstGeom prst="rect">
            <a:avLst/>
          </a:prstGeom>
          <a:noFill/>
        </p:spPr>
        <p:txBody>
          <a:bodyPr wrap="square">
            <a:spAutoFit/>
          </a:bodyPr>
          <a:lstStyle/>
          <a:p>
            <a:pPr>
              <a:defRPr sz="1300" b="1">
                <a:solidFill>
                  <a:srgbClr val="0F2042"/>
                </a:solidFill>
              </a:defRPr>
            </a:pPr>
            <a:r>
              <a:t>3. The Wheat-Specific Groundwater Mechanism</a:t>
            </a:r>
          </a:p>
          <a:p>
            <a:pPr>
              <a:spcBef>
                <a:spcPts val="300"/>
              </a:spcBef>
              <a:defRPr sz="1050">
                <a:solidFill>
                  <a:srgbClr val="2D3748"/>
                </a:solidFill>
              </a:defRPr>
            </a:pPr>
            <a:r>
              <a:t>Tubewell expansion was specifically driven by HYV wheat (β = +0.1468, p &lt; 0.002). Rice in this historical period relied on canals and did not trigger private energized pumping clusters. This distinguishes the wheat belt from the eastern rice belt.</a:t>
            </a:r>
          </a:p>
        </p:txBody>
      </p:sp>
      <p:sp>
        <p:nvSpPr>
          <p:cNvPr id="10" name="Rounded Rectangle 9"/>
          <p:cNvSpPr/>
          <p:nvPr/>
        </p:nvSpPr>
        <p:spPr>
          <a:xfrm>
            <a:off x="731520" y="5029200"/>
            <a:ext cx="10698480" cy="10515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120640"/>
            <a:ext cx="10332720" cy="868680"/>
          </a:xfrm>
          <a:prstGeom prst="rect">
            <a:avLst/>
          </a:prstGeom>
          <a:noFill/>
        </p:spPr>
        <p:txBody>
          <a:bodyPr wrap="square">
            <a:spAutoFit/>
          </a:bodyPr>
          <a:lstStyle/>
          <a:p>
            <a:pPr>
              <a:defRPr sz="1300" b="1">
                <a:solidFill>
                  <a:srgbClr val="D9534F"/>
                </a:solidFill>
              </a:defRPr>
            </a:pPr>
            <a:r>
              <a:t>4. The Persistent Infrastructure Multiplier</a:t>
            </a:r>
          </a:p>
          <a:p>
            <a:pPr>
              <a:spcBef>
                <a:spcPts val="300"/>
              </a:spcBef>
              <a:defRPr sz="1050">
                <a:solidFill>
                  <a:srgbClr val="2D3748"/>
                </a:solidFill>
              </a:defRPr>
            </a:pPr>
            <a:r>
              <a:t>Rather than hitting a ceiling, early Green Revolution districts experienced accelerating domestic electrification gains (+26.7 pp in Punjab vs +7.0 pp in UP). Early agricultural technology shocks created long-lasting energy capital spillovers.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698480" cy="320040"/>
          </a:xfrm>
          <a:prstGeom prst="rect">
            <a:avLst/>
          </a:prstGeom>
          <a:noFill/>
        </p:spPr>
        <p:txBody>
          <a:bodyPr wrap="square">
            <a:spAutoFit/>
          </a:bodyPr>
          <a:lstStyle/>
          <a:p>
            <a:pPr>
              <a:defRPr sz="1000" b="1">
                <a:solidFill>
                  <a:srgbClr val="1F77B4"/>
                </a:solidFill>
              </a:defRPr>
            </a:pPr>
            <a:r>
              <a:t>8. PROJECT ROADMAP</a:t>
            </a:r>
          </a:p>
        </p:txBody>
      </p:sp>
      <p:sp>
        <p:nvSpPr>
          <p:cNvPr id="3" name="TextBox 2"/>
          <p:cNvSpPr txBox="1"/>
          <p:nvPr/>
        </p:nvSpPr>
        <p:spPr>
          <a:xfrm>
            <a:off x="731520" y="640080"/>
            <a:ext cx="10698480" cy="594360"/>
          </a:xfrm>
          <a:prstGeom prst="rect">
            <a:avLst/>
          </a:prstGeom>
          <a:noFill/>
        </p:spPr>
        <p:txBody>
          <a:bodyPr wrap="square">
            <a:spAutoFit/>
          </a:bodyPr>
          <a:lstStyle/>
          <a:p>
            <a:pPr>
              <a:defRPr sz="2200" b="1">
                <a:solidFill>
                  <a:srgbClr val="0F2042"/>
                </a:solidFill>
              </a:defRPr>
            </a:pPr>
            <a:r>
              <a:t>Next Steps for the Capstone Project</a:t>
            </a:r>
          </a:p>
        </p:txBody>
      </p:sp>
      <p:sp>
        <p:nvSpPr>
          <p:cNvPr id="4" name="Rounded Rectangle 3"/>
          <p:cNvSpPr/>
          <p:nvPr/>
        </p:nvSpPr>
        <p:spPr>
          <a:xfrm>
            <a:off x="731520" y="1463040"/>
            <a:ext cx="33832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645920"/>
            <a:ext cx="3017520" cy="4389120"/>
          </a:xfrm>
          <a:prstGeom prst="rect">
            <a:avLst/>
          </a:prstGeom>
          <a:noFill/>
        </p:spPr>
        <p:txBody>
          <a:bodyPr wrap="square">
            <a:spAutoFit/>
          </a:bodyPr>
          <a:lstStyle/>
          <a:p>
            <a:pPr>
              <a:defRPr sz="1400" b="1">
                <a:solidFill>
                  <a:srgbClr val="228B22"/>
                </a:solidFill>
              </a:defRPr>
            </a:pPr>
            <a:r>
              <a:t>Phase 1 (Completed)</a:t>
            </a:r>
          </a:p>
          <a:p>
            <a:pPr>
              <a:spcBef>
                <a:spcPts val="200"/>
              </a:spcBef>
              <a:spcAft>
                <a:spcPts val="1000"/>
              </a:spcAft>
              <a:defRPr sz="1100">
                <a:solidFill>
                  <a:srgbClr val="64748B"/>
                </a:solidFill>
              </a:defRPr>
            </a:pPr>
            <a:r>
              <a:t>Archival Extraction &amp; First Stage</a:t>
            </a:r>
          </a:p>
          <a:p>
            <a:pPr>
              <a:spcBef>
                <a:spcPts val="600"/>
              </a:spcBef>
              <a:defRPr sz="1050">
                <a:solidFill>
                  <a:srgbClr val="2D3748"/>
                </a:solidFill>
              </a:defRPr>
            </a:pPr>
            <a:r>
              <a:t>• 100% concordance established (REDS to ICRISAT).</a:t>
            </a:r>
          </a:p>
          <a:p>
            <a:pPr>
              <a:spcBef>
                <a:spcPts val="600"/>
              </a:spcBef>
              <a:defRPr sz="1050">
                <a:solidFill>
                  <a:srgbClr val="2D3748"/>
                </a:solidFill>
              </a:defRPr>
            </a:pPr>
            <a:r>
              <a:t>• First-stage event study executed (β = 0.1468, p &lt; 0.002).</a:t>
            </a:r>
          </a:p>
          <a:p>
            <a:pPr>
              <a:spcBef>
                <a:spcPts val="600"/>
              </a:spcBef>
              <a:defRPr sz="1050">
                <a:solidFill>
                  <a:srgbClr val="2D3748"/>
                </a:solidFill>
              </a:defRPr>
            </a:pPr>
            <a:r>
              <a:t>• Census 1981 Table HH-6 digitized for Punjab, Haryana, UP.</a:t>
            </a:r>
          </a:p>
          <a:p>
            <a:pPr>
              <a:spcBef>
                <a:spcPts val="600"/>
              </a:spcBef>
              <a:defRPr sz="1050">
                <a:solidFill>
                  <a:srgbClr val="2D3748"/>
                </a:solidFill>
              </a:defRPr>
            </a:pPr>
            <a:r>
              <a:t>• First-difference panel (1981-1991) confirmed (R² = 84.8%).</a:t>
            </a:r>
          </a:p>
        </p:txBody>
      </p:sp>
      <p:sp>
        <p:nvSpPr>
          <p:cNvPr id="6" name="Rounded Rectangle 5"/>
          <p:cNvSpPr/>
          <p:nvPr/>
        </p:nvSpPr>
        <p:spPr>
          <a:xfrm>
            <a:off x="4389120" y="1463040"/>
            <a:ext cx="33832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0" y="1645920"/>
            <a:ext cx="3017520" cy="4389120"/>
          </a:xfrm>
          <a:prstGeom prst="rect">
            <a:avLst/>
          </a:prstGeom>
          <a:noFill/>
        </p:spPr>
        <p:txBody>
          <a:bodyPr wrap="square">
            <a:spAutoFit/>
          </a:bodyPr>
          <a:lstStyle/>
          <a:p>
            <a:pPr>
              <a:defRPr sz="1400" b="1">
                <a:solidFill>
                  <a:srgbClr val="1F77B4"/>
                </a:solidFill>
              </a:defRPr>
            </a:pPr>
            <a:r>
              <a:t>Phase 2 (Immediate Next)</a:t>
            </a:r>
          </a:p>
          <a:p>
            <a:pPr>
              <a:spcBef>
                <a:spcPts val="200"/>
              </a:spcBef>
              <a:spcAft>
                <a:spcPts val="1000"/>
              </a:spcAft>
              <a:defRPr sz="1100">
                <a:solidFill>
                  <a:srgbClr val="64748B"/>
                </a:solidFill>
              </a:defRPr>
            </a:pPr>
            <a:r>
              <a:t>Expanding Southern &amp; Eastern Belts</a:t>
            </a:r>
          </a:p>
          <a:p>
            <a:pPr>
              <a:spcBef>
                <a:spcPts val="600"/>
              </a:spcBef>
              <a:defRPr sz="1050">
                <a:solidFill>
                  <a:srgbClr val="2D3748"/>
                </a:solidFill>
              </a:defRPr>
            </a:pPr>
            <a:r>
              <a:t>• Digitize Census 1981 Table HH-6 for Tamil Nadu &amp; Andhra Pradesh.</a:t>
            </a:r>
          </a:p>
          <a:p>
            <a:pPr>
              <a:spcBef>
                <a:spcPts val="600"/>
              </a:spcBef>
              <a:defRPr sz="1050">
                <a:solidFill>
                  <a:srgbClr val="2D3748"/>
                </a:solidFill>
              </a:defRPr>
            </a:pPr>
            <a:r>
              <a:t>• Contrast the tubewell wheat mechanism with southern tank irrigation.</a:t>
            </a:r>
          </a:p>
          <a:p>
            <a:pPr>
              <a:spcBef>
                <a:spcPts val="600"/>
              </a:spcBef>
              <a:defRPr sz="1050">
                <a:solidFill>
                  <a:srgbClr val="2D3748"/>
                </a:solidFill>
              </a:defRPr>
            </a:pPr>
            <a:r>
              <a:t>• Integrate 1999 REDS household microdata on durable goods (fans, TVs).</a:t>
            </a:r>
          </a:p>
          <a:p>
            <a:pPr>
              <a:spcBef>
                <a:spcPts val="600"/>
              </a:spcBef>
              <a:defRPr sz="1050">
                <a:solidFill>
                  <a:srgbClr val="2D3748"/>
                </a:solidFill>
              </a:defRPr>
            </a:pPr>
            <a:r>
              <a:t>• Test household income channel vs physical proximity channel.</a:t>
            </a:r>
          </a:p>
        </p:txBody>
      </p:sp>
      <p:sp>
        <p:nvSpPr>
          <p:cNvPr id="8" name="Rounded Rectangle 7"/>
          <p:cNvSpPr/>
          <p:nvPr/>
        </p:nvSpPr>
        <p:spPr>
          <a:xfrm>
            <a:off x="8046720" y="1463040"/>
            <a:ext cx="3383280" cy="475488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0" y="1645920"/>
            <a:ext cx="3017520" cy="4389120"/>
          </a:xfrm>
          <a:prstGeom prst="rect">
            <a:avLst/>
          </a:prstGeom>
          <a:noFill/>
        </p:spPr>
        <p:txBody>
          <a:bodyPr wrap="square">
            <a:spAutoFit/>
          </a:bodyPr>
          <a:lstStyle/>
          <a:p>
            <a:pPr>
              <a:defRPr sz="1400" b="1">
                <a:solidFill>
                  <a:srgbClr val="0F2042"/>
                </a:solidFill>
              </a:defRPr>
            </a:pPr>
            <a:r>
              <a:t>Phase 3 (Final Paper)</a:t>
            </a:r>
          </a:p>
          <a:p>
            <a:pPr>
              <a:spcBef>
                <a:spcPts val="200"/>
              </a:spcBef>
              <a:spcAft>
                <a:spcPts val="1000"/>
              </a:spcAft>
              <a:defRPr sz="1100">
                <a:solidFill>
                  <a:srgbClr val="64748B"/>
                </a:solidFill>
              </a:defRPr>
            </a:pPr>
            <a:r>
              <a:t>Causal DiD &amp; Mechanism Validation</a:t>
            </a:r>
          </a:p>
          <a:p>
            <a:pPr>
              <a:spcBef>
                <a:spcPts val="600"/>
              </a:spcBef>
              <a:defRPr sz="1050">
                <a:solidFill>
                  <a:srgbClr val="2D3748"/>
                </a:solidFill>
              </a:defRPr>
            </a:pPr>
            <a:r>
              <a:t>• Instrumental Variable (IV): Soil groundwater depth x HYV wheat rollout.</a:t>
            </a:r>
          </a:p>
          <a:p>
            <a:pPr>
              <a:spcBef>
                <a:spcPts val="600"/>
              </a:spcBef>
              <a:defRPr sz="1050">
                <a:solidFill>
                  <a:srgbClr val="2D3748"/>
                </a:solidFill>
              </a:defRPr>
            </a:pPr>
            <a:r>
              <a:t>• Event-study hazard model for exact year of village electrification.</a:t>
            </a:r>
          </a:p>
          <a:p>
            <a:pPr>
              <a:spcBef>
                <a:spcPts val="600"/>
              </a:spcBef>
              <a:defRPr sz="1050">
                <a:solidFill>
                  <a:srgbClr val="2D3748"/>
                </a:solidFill>
              </a:defRPr>
            </a:pPr>
            <a:r>
              <a:t>• Complete draft of DSI Scholar working paper.</a:t>
            </a:r>
          </a:p>
          <a:p>
            <a:pPr>
              <a:spcBef>
                <a:spcPts val="600"/>
              </a:spcBef>
              <a:defRPr sz="1050">
                <a:solidFill>
                  <a:srgbClr val="2D3748"/>
                </a:solidFill>
              </a:defRPr>
            </a:pPr>
            <a:r>
              <a:t>• Submit presentation to academic conference / seminar series.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